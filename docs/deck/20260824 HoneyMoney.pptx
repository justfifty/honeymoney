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Neue Montreal" panose="020B0604020202020204" charset="0"/>
      <p:regular r:id="rId14"/>
    </p:embeddedFont>
    <p:embeddedFont>
      <p:font typeface="Neue Montreal Bold" panose="020B0604020202020204" charset="0"/>
      <p:regular r:id="rId15"/>
    </p:embeddedFont>
    <p:embeddedFont>
      <p:font typeface="Neue Montreal Italics" panose="020B0604020202020204" charset="0"/>
      <p:regular r:id="rId16"/>
    </p:embeddedFont>
    <p:embeddedFont>
      <p:font typeface="Neue Montreal Medium" panose="020B0604020202020204" charset="0"/>
      <p:regular r:id="rId17"/>
    </p:embeddedFont>
    <p:embeddedFont>
      <p:font typeface="Neue Montreal Medium Italic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352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6.sv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honeymoney.app" TargetMode="External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hyperlink" Target="https://honeymoney.app" TargetMode="Externa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544658">
            <a:off x="3057096" y="-8057335"/>
            <a:ext cx="15997192" cy="15209701"/>
          </a:xfrm>
          <a:custGeom>
            <a:avLst/>
            <a:gdLst/>
            <a:ahLst/>
            <a:cxnLst/>
            <a:rect l="l" t="t" r="r" b="b"/>
            <a:pathLst>
              <a:path w="15997192" h="15209701">
                <a:moveTo>
                  <a:pt x="0" y="0"/>
                </a:moveTo>
                <a:lnTo>
                  <a:pt x="15997192" y="0"/>
                </a:lnTo>
                <a:lnTo>
                  <a:pt x="15997192" y="15209701"/>
                </a:lnTo>
                <a:lnTo>
                  <a:pt x="0" y="15209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78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698626" y="472575"/>
            <a:ext cx="641254" cy="484209"/>
            <a:chOff x="0" y="0"/>
            <a:chExt cx="168890" cy="1275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890" cy="127528"/>
            </a:xfrm>
            <a:custGeom>
              <a:avLst/>
              <a:gdLst/>
              <a:ahLst/>
              <a:cxnLst/>
              <a:rect l="l" t="t" r="r" b="b"/>
              <a:pathLst>
                <a:path w="168890" h="127528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FF751F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6867220" y="593606"/>
            <a:ext cx="304067" cy="242148"/>
          </a:xfrm>
          <a:custGeom>
            <a:avLst/>
            <a:gdLst/>
            <a:ahLst/>
            <a:cxnLst/>
            <a:rect l="l" t="t" r="r" b="b"/>
            <a:pathLst>
              <a:path w="304067" h="242148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01262" y="472575"/>
            <a:ext cx="683572" cy="647595"/>
          </a:xfrm>
          <a:custGeom>
            <a:avLst/>
            <a:gdLst/>
            <a:ahLst/>
            <a:cxnLst/>
            <a:rect l="l" t="t" r="r" b="b"/>
            <a:pathLst>
              <a:path w="683572" h="647595">
                <a:moveTo>
                  <a:pt x="0" y="0"/>
                </a:moveTo>
                <a:lnTo>
                  <a:pt x="683572" y="0"/>
                </a:lnTo>
                <a:lnTo>
                  <a:pt x="683572" y="647595"/>
                </a:lnTo>
                <a:lnTo>
                  <a:pt x="0" y="6475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01262" y="0"/>
            <a:ext cx="4960923" cy="4666631"/>
          </a:xfrm>
          <a:custGeom>
            <a:avLst/>
            <a:gdLst/>
            <a:ahLst/>
            <a:cxnLst/>
            <a:rect l="l" t="t" r="r" b="b"/>
            <a:pathLst>
              <a:path w="4960923" h="4666631">
                <a:moveTo>
                  <a:pt x="0" y="0"/>
                </a:moveTo>
                <a:lnTo>
                  <a:pt x="4960923" y="0"/>
                </a:lnTo>
                <a:lnTo>
                  <a:pt x="4960923" y="4666631"/>
                </a:lnTo>
                <a:lnTo>
                  <a:pt x="0" y="46666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46958" y="5858719"/>
            <a:ext cx="9461536" cy="15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599"/>
              </a:lnSpc>
              <a:spcBef>
                <a:spcPct val="0"/>
              </a:spcBef>
            </a:pPr>
            <a:r>
              <a:rPr lang="en-US" sz="9000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HoneyMoney.app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4583" y="7335044"/>
            <a:ext cx="9745632" cy="10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30">
                <a:solidFill>
                  <a:srgbClr val="FF751F"/>
                </a:solidFill>
                <a:latin typeface="Neue Montreal"/>
                <a:ea typeface="Neue Montreal"/>
                <a:cs typeface="Neue Montreal"/>
                <a:sym typeface="Neue Montreal"/>
              </a:rPr>
              <a:t>Happy Wife . Happy Life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751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The AI money layer for Malaysian Families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26238" y="9201150"/>
            <a:ext cx="6213642" cy="489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19"/>
              </a:lnSpc>
              <a:spcBef>
                <a:spcPct val="0"/>
              </a:spcBef>
            </a:pPr>
            <a:r>
              <a:rPr lang="en-US" sz="2799" b="1" spc="27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MAIC Nexus 2026 | Track T3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47027" y="571798"/>
            <a:ext cx="7087065" cy="33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b="1" spc="19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HoneyMoney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74678" y="0"/>
            <a:ext cx="7713322" cy="10287000"/>
          </a:xfrm>
          <a:custGeom>
            <a:avLst/>
            <a:gdLst/>
            <a:ahLst/>
            <a:cxnLst/>
            <a:rect l="l" t="t" r="r" b="b"/>
            <a:pathLst>
              <a:path w="7713322" h="10287000">
                <a:moveTo>
                  <a:pt x="0" y="0"/>
                </a:moveTo>
                <a:lnTo>
                  <a:pt x="7713322" y="0"/>
                </a:lnTo>
                <a:lnTo>
                  <a:pt x="77133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709" r="-70329" b="-617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698626" y="472575"/>
            <a:ext cx="641254" cy="484209"/>
            <a:chOff x="0" y="0"/>
            <a:chExt cx="168890" cy="1275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890" cy="127528"/>
            </a:xfrm>
            <a:custGeom>
              <a:avLst/>
              <a:gdLst/>
              <a:ahLst/>
              <a:cxnLst/>
              <a:rect l="l" t="t" r="r" b="b"/>
              <a:pathLst>
                <a:path w="168890" h="127528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6867220" y="593606"/>
            <a:ext cx="304067" cy="242148"/>
          </a:xfrm>
          <a:custGeom>
            <a:avLst/>
            <a:gdLst/>
            <a:ahLst/>
            <a:cxnLst/>
            <a:rect l="l" t="t" r="r" b="b"/>
            <a:pathLst>
              <a:path w="304067" h="242148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096376" y="9340399"/>
            <a:ext cx="873698" cy="2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8"/>
              </a:lnSpc>
              <a:spcBef>
                <a:spcPct val="0"/>
              </a:spcBef>
            </a:pPr>
            <a:r>
              <a:rPr lang="en-US" sz="1598" b="1" spc="15">
                <a:solidFill>
                  <a:srgbClr val="F5F5F5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882414" y="9340399"/>
            <a:ext cx="45050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">
                <a:solidFill>
                  <a:srgbClr val="F5F5F5"/>
                </a:solidFill>
                <a:latin typeface="Neue Montreal"/>
                <a:ea typeface="Neue Montreal"/>
                <a:cs typeface="Neue Montreal"/>
                <a:sym typeface="Neue Montreal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2844" y="9340399"/>
            <a:ext cx="2945600" cy="27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03"/>
              </a:lnSpc>
              <a:spcBef>
                <a:spcPct val="0"/>
              </a:spcBef>
            </a:pPr>
            <a:r>
              <a:rPr lang="en-US" sz="1573" spc="15">
                <a:solidFill>
                  <a:srgbClr val="F5F5F5"/>
                </a:solidFill>
                <a:latin typeface="Neue Montreal"/>
                <a:ea typeface="Neue Montreal"/>
                <a:cs typeface="Neue Montreal"/>
                <a:sym typeface="Neue Montreal"/>
              </a:rPr>
              <a:t>honeymoney.app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42914" y="571798"/>
            <a:ext cx="7087065" cy="33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b="1" spc="19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HoneyMoney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877756"/>
            <a:ext cx="8653723" cy="639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40"/>
              </a:lnSpc>
            </a:pPr>
            <a:r>
              <a:rPr lang="en-US" sz="2600" b="1" spc="26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Malaysian households run their money across four or five e-wallets, e.g., TNG, MAE, GrabPay, ShopeePay, plus cards and cash. Nothing adds them up.</a:t>
            </a:r>
          </a:p>
          <a:p>
            <a:pPr marL="0" lvl="0" indent="0" algn="just">
              <a:lnSpc>
                <a:spcPts val="3640"/>
              </a:lnSpc>
            </a:pPr>
            <a:endParaRPr lang="en-US" sz="2600" b="1" spc="26">
              <a:solidFill>
                <a:srgbClr val="FFFFFF"/>
              </a:solidFill>
              <a:latin typeface="Neue Montreal Medium"/>
              <a:ea typeface="Neue Montreal Medium"/>
              <a:cs typeface="Neue Montreal Medium"/>
              <a:sym typeface="Neue Montreal Medium"/>
            </a:endParaRPr>
          </a:p>
          <a:p>
            <a:pPr marL="0" lvl="0" indent="0" algn="just">
              <a:lnSpc>
                <a:spcPts val="3640"/>
              </a:lnSpc>
            </a:pPr>
            <a:r>
              <a:rPr lang="en-US" sz="2600" b="1" spc="26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Traditional apps answer with manual entry and surveillance, so people burn out and stop. </a:t>
            </a:r>
          </a:p>
          <a:p>
            <a:pPr marL="0" lvl="0" indent="0" algn="just">
              <a:lnSpc>
                <a:spcPts val="3640"/>
              </a:lnSpc>
            </a:pPr>
            <a:endParaRPr lang="en-US" sz="2600" b="1" spc="26">
              <a:solidFill>
                <a:srgbClr val="FFFFFF"/>
              </a:solidFill>
              <a:latin typeface="Neue Montreal Medium"/>
              <a:ea typeface="Neue Montreal Medium"/>
              <a:cs typeface="Neue Montreal Medium"/>
              <a:sym typeface="Neue Montreal Medium"/>
            </a:endParaRPr>
          </a:p>
          <a:p>
            <a:pPr marL="0" lvl="0" indent="0" algn="just">
              <a:lnSpc>
                <a:spcPts val="3640"/>
              </a:lnSpc>
            </a:pPr>
            <a:r>
              <a:rPr lang="en-US" sz="2600" b="1" spc="26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Tracking fatique is the failure mode, not missing features. </a:t>
            </a:r>
          </a:p>
          <a:p>
            <a:pPr marL="0" lvl="0" indent="0" algn="just">
              <a:lnSpc>
                <a:spcPts val="3640"/>
              </a:lnSpc>
            </a:pPr>
            <a:r>
              <a:rPr lang="en-US" sz="2600" b="1" spc="26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For couples: no shared view of what must be paid, and no private space for what should not be.</a:t>
            </a:r>
          </a:p>
          <a:p>
            <a:pPr marL="0" lvl="0" indent="0" algn="just">
              <a:lnSpc>
                <a:spcPts val="3640"/>
              </a:lnSpc>
            </a:pPr>
            <a:endParaRPr lang="en-US" sz="2600" b="1" spc="26">
              <a:solidFill>
                <a:srgbClr val="FFFFFF"/>
              </a:solidFill>
              <a:latin typeface="Neue Montreal Medium"/>
              <a:ea typeface="Neue Montreal Medium"/>
              <a:cs typeface="Neue Montreal Medium"/>
              <a:sym typeface="Neue Montreal Medium"/>
            </a:endParaRPr>
          </a:p>
          <a:p>
            <a:pPr marL="0" lvl="0" indent="0" algn="just">
              <a:lnSpc>
                <a:spcPts val="3640"/>
              </a:lnSpc>
            </a:pPr>
            <a:r>
              <a:rPr lang="en-US" sz="2600" b="1" spc="26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Not a data problem, but a decision issue.</a:t>
            </a:r>
          </a:p>
          <a:p>
            <a:pPr marL="0" lvl="0" indent="0" algn="just">
              <a:lnSpc>
                <a:spcPts val="3640"/>
              </a:lnSpc>
            </a:pPr>
            <a:r>
              <a:rPr lang="en-US" sz="2600" b="1" spc="26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Households find out they overspent after the money is gone.</a:t>
            </a:r>
          </a:p>
          <a:p>
            <a:pPr marL="0" lvl="0" indent="0" algn="just">
              <a:lnSpc>
                <a:spcPts val="3640"/>
              </a:lnSpc>
            </a:pPr>
            <a:endParaRPr lang="en-US" sz="2600" b="1" spc="26">
              <a:solidFill>
                <a:srgbClr val="FFFFFF"/>
              </a:solidFill>
              <a:latin typeface="Neue Montreal Medium"/>
              <a:ea typeface="Neue Montreal Medium"/>
              <a:cs typeface="Neue Montreal Medium"/>
              <a:sym typeface="Neue Montreal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20912" y="1585656"/>
            <a:ext cx="6981580" cy="12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50"/>
              </a:lnSpc>
            </a:pPr>
            <a:r>
              <a:rPr lang="en-US" sz="9000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The Problem</a:t>
            </a:r>
          </a:p>
        </p:txBody>
      </p:sp>
      <p:sp>
        <p:nvSpPr>
          <p:cNvPr id="13" name="Freeform 13"/>
          <p:cNvSpPr/>
          <p:nvPr/>
        </p:nvSpPr>
        <p:spPr>
          <a:xfrm>
            <a:off x="801262" y="482100"/>
            <a:ext cx="623853" cy="607767"/>
          </a:xfrm>
          <a:custGeom>
            <a:avLst/>
            <a:gdLst/>
            <a:ahLst/>
            <a:cxnLst/>
            <a:rect l="l" t="t" r="r" b="b"/>
            <a:pathLst>
              <a:path w="623853" h="607767">
                <a:moveTo>
                  <a:pt x="0" y="0"/>
                </a:moveTo>
                <a:lnTo>
                  <a:pt x="623853" y="0"/>
                </a:lnTo>
                <a:lnTo>
                  <a:pt x="623853" y="607767"/>
                </a:lnTo>
                <a:lnTo>
                  <a:pt x="0" y="6077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8062" b="-4342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698626" y="472575"/>
            <a:ext cx="641254" cy="484209"/>
            <a:chOff x="0" y="0"/>
            <a:chExt cx="168890" cy="1275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890" cy="127528"/>
            </a:xfrm>
            <a:custGeom>
              <a:avLst/>
              <a:gdLst/>
              <a:ahLst/>
              <a:cxnLst/>
              <a:rect l="l" t="t" r="r" b="b"/>
              <a:pathLst>
                <a:path w="168890" h="127528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16867220" y="593606"/>
            <a:ext cx="304067" cy="242148"/>
          </a:xfrm>
          <a:custGeom>
            <a:avLst/>
            <a:gdLst/>
            <a:ahLst/>
            <a:cxnLst/>
            <a:rect l="l" t="t" r="r" b="b"/>
            <a:pathLst>
              <a:path w="304067" h="242148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1194055"/>
            <a:ext cx="18288000" cy="2956210"/>
          </a:xfrm>
          <a:custGeom>
            <a:avLst/>
            <a:gdLst/>
            <a:ahLst/>
            <a:cxnLst/>
            <a:rect l="l" t="t" r="r" b="b"/>
            <a:pathLst>
              <a:path w="18288000" h="2956210">
                <a:moveTo>
                  <a:pt x="0" y="0"/>
                </a:moveTo>
                <a:lnTo>
                  <a:pt x="18288000" y="0"/>
                </a:lnTo>
                <a:lnTo>
                  <a:pt x="18288000" y="2956210"/>
                </a:lnTo>
                <a:lnTo>
                  <a:pt x="0" y="2956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9752" b="-205080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46958" y="3478184"/>
            <a:ext cx="2414749" cy="3482804"/>
            <a:chOff x="0" y="0"/>
            <a:chExt cx="374108" cy="5395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4108" cy="539577"/>
            </a:xfrm>
            <a:custGeom>
              <a:avLst/>
              <a:gdLst/>
              <a:ahLst/>
              <a:cxnLst/>
              <a:rect l="l" t="t" r="r" b="b"/>
              <a:pathLst>
                <a:path w="374108" h="539577">
                  <a:moveTo>
                    <a:pt x="102595" y="0"/>
                  </a:moveTo>
                  <a:lnTo>
                    <a:pt x="271513" y="0"/>
                  </a:lnTo>
                  <a:cubicBezTo>
                    <a:pt x="298723" y="0"/>
                    <a:pt x="324818" y="10809"/>
                    <a:pt x="344058" y="30049"/>
                  </a:cubicBezTo>
                  <a:cubicBezTo>
                    <a:pt x="363299" y="49290"/>
                    <a:pt x="374108" y="75385"/>
                    <a:pt x="374108" y="102595"/>
                  </a:cubicBezTo>
                  <a:lnTo>
                    <a:pt x="374108" y="436982"/>
                  </a:lnTo>
                  <a:cubicBezTo>
                    <a:pt x="374108" y="464192"/>
                    <a:pt x="363299" y="490288"/>
                    <a:pt x="344058" y="509528"/>
                  </a:cubicBezTo>
                  <a:cubicBezTo>
                    <a:pt x="324818" y="528768"/>
                    <a:pt x="298723" y="539577"/>
                    <a:pt x="271513" y="539577"/>
                  </a:cubicBezTo>
                  <a:lnTo>
                    <a:pt x="102595" y="539577"/>
                  </a:lnTo>
                  <a:cubicBezTo>
                    <a:pt x="75385" y="539577"/>
                    <a:pt x="49290" y="528768"/>
                    <a:pt x="30049" y="509528"/>
                  </a:cubicBezTo>
                  <a:cubicBezTo>
                    <a:pt x="10809" y="490288"/>
                    <a:pt x="0" y="464192"/>
                    <a:pt x="0" y="436982"/>
                  </a:cubicBezTo>
                  <a:lnTo>
                    <a:pt x="0" y="102595"/>
                  </a:lnTo>
                  <a:cubicBezTo>
                    <a:pt x="0" y="75385"/>
                    <a:pt x="10809" y="49290"/>
                    <a:pt x="30049" y="30049"/>
                  </a:cubicBezTo>
                  <a:cubicBezTo>
                    <a:pt x="49290" y="10809"/>
                    <a:pt x="75385" y="0"/>
                    <a:pt x="102595" y="0"/>
                  </a:cubicBezTo>
                  <a:close/>
                </a:path>
              </a:pathLst>
            </a:custGeom>
            <a:blipFill>
              <a:blip r:embed="rId4"/>
              <a:stretch>
                <a:fillRect t="-14021" b="-14021"/>
              </a:stretch>
            </a:blipFill>
            <a:ln w="66675" cap="rnd">
              <a:solidFill>
                <a:srgbClr val="FFDE59"/>
              </a:solidFill>
              <a:prstDash val="solid"/>
              <a:round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946958" y="7037187"/>
            <a:ext cx="2414749" cy="687207"/>
            <a:chOff x="0" y="0"/>
            <a:chExt cx="635983" cy="1809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983" cy="180993"/>
            </a:xfrm>
            <a:custGeom>
              <a:avLst/>
              <a:gdLst/>
              <a:ahLst/>
              <a:cxnLst/>
              <a:rect l="l" t="t" r="r" b="b"/>
              <a:pathLst>
                <a:path w="635983" h="180993">
                  <a:moveTo>
                    <a:pt x="64122" y="0"/>
                  </a:moveTo>
                  <a:lnTo>
                    <a:pt x="571861" y="0"/>
                  </a:lnTo>
                  <a:cubicBezTo>
                    <a:pt x="588868" y="0"/>
                    <a:pt x="605177" y="6756"/>
                    <a:pt x="617202" y="18781"/>
                  </a:cubicBezTo>
                  <a:cubicBezTo>
                    <a:pt x="629228" y="30806"/>
                    <a:pt x="635983" y="47116"/>
                    <a:pt x="635983" y="64122"/>
                  </a:cubicBezTo>
                  <a:lnTo>
                    <a:pt x="635983" y="116871"/>
                  </a:lnTo>
                  <a:cubicBezTo>
                    <a:pt x="635983" y="133877"/>
                    <a:pt x="629228" y="150187"/>
                    <a:pt x="617202" y="162212"/>
                  </a:cubicBezTo>
                  <a:cubicBezTo>
                    <a:pt x="605177" y="174237"/>
                    <a:pt x="588868" y="180993"/>
                    <a:pt x="571861" y="180993"/>
                  </a:cubicBezTo>
                  <a:lnTo>
                    <a:pt x="64122" y="180993"/>
                  </a:lnTo>
                  <a:cubicBezTo>
                    <a:pt x="47116" y="180993"/>
                    <a:pt x="30806" y="174237"/>
                    <a:pt x="18781" y="162212"/>
                  </a:cubicBezTo>
                  <a:cubicBezTo>
                    <a:pt x="6756" y="150187"/>
                    <a:pt x="0" y="133877"/>
                    <a:pt x="0" y="116871"/>
                  </a:cubicBezTo>
                  <a:lnTo>
                    <a:pt x="0" y="64122"/>
                  </a:lnTo>
                  <a:cubicBezTo>
                    <a:pt x="0" y="47116"/>
                    <a:pt x="6756" y="30806"/>
                    <a:pt x="18781" y="18781"/>
                  </a:cubicBezTo>
                  <a:cubicBezTo>
                    <a:pt x="30806" y="6756"/>
                    <a:pt x="47116" y="0"/>
                    <a:pt x="64122" y="0"/>
                  </a:cubicBezTo>
                  <a:close/>
                </a:path>
              </a:pathLst>
            </a:custGeom>
            <a:solidFill>
              <a:srgbClr val="F5F5F5"/>
            </a:solidFill>
            <a:ln w="66675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635983" cy="228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9"/>
                </a:lnSpc>
              </a:pPr>
              <a:r>
                <a:rPr lang="en-US" sz="2299" b="1">
                  <a:solidFill>
                    <a:srgbClr val="333333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Live App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406269" y="3478184"/>
            <a:ext cx="2414749" cy="3482804"/>
            <a:chOff x="0" y="0"/>
            <a:chExt cx="374108" cy="5395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74108" cy="539577"/>
            </a:xfrm>
            <a:custGeom>
              <a:avLst/>
              <a:gdLst/>
              <a:ahLst/>
              <a:cxnLst/>
              <a:rect l="l" t="t" r="r" b="b"/>
              <a:pathLst>
                <a:path w="374108" h="539577">
                  <a:moveTo>
                    <a:pt x="102595" y="0"/>
                  </a:moveTo>
                  <a:lnTo>
                    <a:pt x="271513" y="0"/>
                  </a:lnTo>
                  <a:cubicBezTo>
                    <a:pt x="298723" y="0"/>
                    <a:pt x="324818" y="10809"/>
                    <a:pt x="344058" y="30049"/>
                  </a:cubicBezTo>
                  <a:cubicBezTo>
                    <a:pt x="363299" y="49290"/>
                    <a:pt x="374108" y="75385"/>
                    <a:pt x="374108" y="102595"/>
                  </a:cubicBezTo>
                  <a:lnTo>
                    <a:pt x="374108" y="436982"/>
                  </a:lnTo>
                  <a:cubicBezTo>
                    <a:pt x="374108" y="464192"/>
                    <a:pt x="363299" y="490288"/>
                    <a:pt x="344058" y="509528"/>
                  </a:cubicBezTo>
                  <a:cubicBezTo>
                    <a:pt x="324818" y="528768"/>
                    <a:pt x="298723" y="539577"/>
                    <a:pt x="271513" y="539577"/>
                  </a:cubicBezTo>
                  <a:lnTo>
                    <a:pt x="102595" y="539577"/>
                  </a:lnTo>
                  <a:cubicBezTo>
                    <a:pt x="75385" y="539577"/>
                    <a:pt x="49290" y="528768"/>
                    <a:pt x="30049" y="509528"/>
                  </a:cubicBezTo>
                  <a:cubicBezTo>
                    <a:pt x="10809" y="490288"/>
                    <a:pt x="0" y="464192"/>
                    <a:pt x="0" y="436982"/>
                  </a:cubicBezTo>
                  <a:lnTo>
                    <a:pt x="0" y="102595"/>
                  </a:lnTo>
                  <a:cubicBezTo>
                    <a:pt x="0" y="75385"/>
                    <a:pt x="10809" y="49290"/>
                    <a:pt x="30049" y="30049"/>
                  </a:cubicBezTo>
                  <a:cubicBezTo>
                    <a:pt x="49290" y="10809"/>
                    <a:pt x="75385" y="0"/>
                    <a:pt x="102595" y="0"/>
                  </a:cubicBezTo>
                  <a:close/>
                </a:path>
              </a:pathLst>
            </a:custGeom>
            <a:blipFill>
              <a:blip r:embed="rId5"/>
              <a:stretch>
                <a:fillRect t="-14371" b="-14371"/>
              </a:stretch>
            </a:blipFill>
            <a:ln w="66675" cap="rnd">
              <a:solidFill>
                <a:srgbClr val="FFDE59"/>
              </a:solidFill>
              <a:prstDash val="solid"/>
              <a:round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406269" y="7037187"/>
            <a:ext cx="2414749" cy="687207"/>
            <a:chOff x="0" y="0"/>
            <a:chExt cx="635983" cy="18099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983" cy="180993"/>
            </a:xfrm>
            <a:custGeom>
              <a:avLst/>
              <a:gdLst/>
              <a:ahLst/>
              <a:cxnLst/>
              <a:rect l="l" t="t" r="r" b="b"/>
              <a:pathLst>
                <a:path w="635983" h="180993">
                  <a:moveTo>
                    <a:pt x="64122" y="0"/>
                  </a:moveTo>
                  <a:lnTo>
                    <a:pt x="571861" y="0"/>
                  </a:lnTo>
                  <a:cubicBezTo>
                    <a:pt x="588868" y="0"/>
                    <a:pt x="605177" y="6756"/>
                    <a:pt x="617202" y="18781"/>
                  </a:cubicBezTo>
                  <a:cubicBezTo>
                    <a:pt x="629228" y="30806"/>
                    <a:pt x="635983" y="47116"/>
                    <a:pt x="635983" y="64122"/>
                  </a:cubicBezTo>
                  <a:lnTo>
                    <a:pt x="635983" y="116871"/>
                  </a:lnTo>
                  <a:cubicBezTo>
                    <a:pt x="635983" y="133877"/>
                    <a:pt x="629228" y="150187"/>
                    <a:pt x="617202" y="162212"/>
                  </a:cubicBezTo>
                  <a:cubicBezTo>
                    <a:pt x="605177" y="174237"/>
                    <a:pt x="588868" y="180993"/>
                    <a:pt x="571861" y="180993"/>
                  </a:cubicBezTo>
                  <a:lnTo>
                    <a:pt x="64122" y="180993"/>
                  </a:lnTo>
                  <a:cubicBezTo>
                    <a:pt x="47116" y="180993"/>
                    <a:pt x="30806" y="174237"/>
                    <a:pt x="18781" y="162212"/>
                  </a:cubicBezTo>
                  <a:cubicBezTo>
                    <a:pt x="6756" y="150187"/>
                    <a:pt x="0" y="133877"/>
                    <a:pt x="0" y="116871"/>
                  </a:cubicBezTo>
                  <a:lnTo>
                    <a:pt x="0" y="64122"/>
                  </a:lnTo>
                  <a:cubicBezTo>
                    <a:pt x="0" y="47116"/>
                    <a:pt x="6756" y="30806"/>
                    <a:pt x="18781" y="18781"/>
                  </a:cubicBezTo>
                  <a:cubicBezTo>
                    <a:pt x="30806" y="6756"/>
                    <a:pt x="47116" y="0"/>
                    <a:pt x="64122" y="0"/>
                  </a:cubicBezTo>
                  <a:close/>
                </a:path>
              </a:pathLst>
            </a:custGeom>
            <a:solidFill>
              <a:srgbClr val="F5F5F5"/>
            </a:solidFill>
            <a:ln w="66675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635983" cy="228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9"/>
                </a:lnSpc>
              </a:pPr>
              <a:r>
                <a:rPr lang="en-US" sz="2299" b="1">
                  <a:solidFill>
                    <a:srgbClr val="333333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Dashboard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65580" y="3478184"/>
            <a:ext cx="2414749" cy="3482804"/>
            <a:chOff x="0" y="0"/>
            <a:chExt cx="374108" cy="53957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4108" cy="539577"/>
            </a:xfrm>
            <a:custGeom>
              <a:avLst/>
              <a:gdLst/>
              <a:ahLst/>
              <a:cxnLst/>
              <a:rect l="l" t="t" r="r" b="b"/>
              <a:pathLst>
                <a:path w="374108" h="539577">
                  <a:moveTo>
                    <a:pt x="102595" y="0"/>
                  </a:moveTo>
                  <a:lnTo>
                    <a:pt x="271513" y="0"/>
                  </a:lnTo>
                  <a:cubicBezTo>
                    <a:pt x="298723" y="0"/>
                    <a:pt x="324818" y="10809"/>
                    <a:pt x="344058" y="30049"/>
                  </a:cubicBezTo>
                  <a:cubicBezTo>
                    <a:pt x="363299" y="49290"/>
                    <a:pt x="374108" y="75385"/>
                    <a:pt x="374108" y="102595"/>
                  </a:cubicBezTo>
                  <a:lnTo>
                    <a:pt x="374108" y="436982"/>
                  </a:lnTo>
                  <a:cubicBezTo>
                    <a:pt x="374108" y="464192"/>
                    <a:pt x="363299" y="490288"/>
                    <a:pt x="344058" y="509528"/>
                  </a:cubicBezTo>
                  <a:cubicBezTo>
                    <a:pt x="324818" y="528768"/>
                    <a:pt x="298723" y="539577"/>
                    <a:pt x="271513" y="539577"/>
                  </a:cubicBezTo>
                  <a:lnTo>
                    <a:pt x="102595" y="539577"/>
                  </a:lnTo>
                  <a:cubicBezTo>
                    <a:pt x="75385" y="539577"/>
                    <a:pt x="49290" y="528768"/>
                    <a:pt x="30049" y="509528"/>
                  </a:cubicBezTo>
                  <a:cubicBezTo>
                    <a:pt x="10809" y="490288"/>
                    <a:pt x="0" y="464192"/>
                    <a:pt x="0" y="436982"/>
                  </a:cubicBezTo>
                  <a:lnTo>
                    <a:pt x="0" y="102595"/>
                  </a:lnTo>
                  <a:cubicBezTo>
                    <a:pt x="0" y="75385"/>
                    <a:pt x="10809" y="49290"/>
                    <a:pt x="30049" y="30049"/>
                  </a:cubicBezTo>
                  <a:cubicBezTo>
                    <a:pt x="49290" y="10809"/>
                    <a:pt x="75385" y="0"/>
                    <a:pt x="102595" y="0"/>
                  </a:cubicBezTo>
                  <a:close/>
                </a:path>
              </a:pathLst>
            </a:custGeom>
            <a:blipFill>
              <a:blip r:embed="rId6"/>
              <a:stretch>
                <a:fillRect l="-15659" r="-15659"/>
              </a:stretch>
            </a:blipFill>
            <a:ln w="66675" cap="rnd">
              <a:solidFill>
                <a:srgbClr val="FFDE59"/>
              </a:solidFill>
              <a:prstDash val="solid"/>
              <a:round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7865580" y="7037187"/>
            <a:ext cx="2414749" cy="687207"/>
            <a:chOff x="0" y="0"/>
            <a:chExt cx="635983" cy="18099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983" cy="180993"/>
            </a:xfrm>
            <a:custGeom>
              <a:avLst/>
              <a:gdLst/>
              <a:ahLst/>
              <a:cxnLst/>
              <a:rect l="l" t="t" r="r" b="b"/>
              <a:pathLst>
                <a:path w="635983" h="180993">
                  <a:moveTo>
                    <a:pt x="64122" y="0"/>
                  </a:moveTo>
                  <a:lnTo>
                    <a:pt x="571861" y="0"/>
                  </a:lnTo>
                  <a:cubicBezTo>
                    <a:pt x="588868" y="0"/>
                    <a:pt x="605177" y="6756"/>
                    <a:pt x="617202" y="18781"/>
                  </a:cubicBezTo>
                  <a:cubicBezTo>
                    <a:pt x="629228" y="30806"/>
                    <a:pt x="635983" y="47116"/>
                    <a:pt x="635983" y="64122"/>
                  </a:cubicBezTo>
                  <a:lnTo>
                    <a:pt x="635983" y="116871"/>
                  </a:lnTo>
                  <a:cubicBezTo>
                    <a:pt x="635983" y="133877"/>
                    <a:pt x="629228" y="150187"/>
                    <a:pt x="617202" y="162212"/>
                  </a:cubicBezTo>
                  <a:cubicBezTo>
                    <a:pt x="605177" y="174237"/>
                    <a:pt x="588868" y="180993"/>
                    <a:pt x="571861" y="180993"/>
                  </a:cubicBezTo>
                  <a:lnTo>
                    <a:pt x="64122" y="180993"/>
                  </a:lnTo>
                  <a:cubicBezTo>
                    <a:pt x="47116" y="180993"/>
                    <a:pt x="30806" y="174237"/>
                    <a:pt x="18781" y="162212"/>
                  </a:cubicBezTo>
                  <a:cubicBezTo>
                    <a:pt x="6756" y="150187"/>
                    <a:pt x="0" y="133877"/>
                    <a:pt x="0" y="116871"/>
                  </a:cubicBezTo>
                  <a:lnTo>
                    <a:pt x="0" y="64122"/>
                  </a:lnTo>
                  <a:cubicBezTo>
                    <a:pt x="0" y="47116"/>
                    <a:pt x="6756" y="30806"/>
                    <a:pt x="18781" y="18781"/>
                  </a:cubicBezTo>
                  <a:cubicBezTo>
                    <a:pt x="30806" y="6756"/>
                    <a:pt x="47116" y="0"/>
                    <a:pt x="64122" y="0"/>
                  </a:cubicBezTo>
                  <a:close/>
                </a:path>
              </a:pathLst>
            </a:custGeom>
            <a:solidFill>
              <a:srgbClr val="F5F5F5"/>
            </a:solidFill>
            <a:ln w="66675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635983" cy="228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9"/>
                </a:lnSpc>
              </a:pPr>
              <a:r>
                <a:rPr lang="en-US" sz="2299" b="1">
                  <a:solidFill>
                    <a:srgbClr val="333333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Spending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324891" y="3478184"/>
            <a:ext cx="2414749" cy="3482804"/>
            <a:chOff x="0" y="0"/>
            <a:chExt cx="374108" cy="53957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74108" cy="539577"/>
            </a:xfrm>
            <a:custGeom>
              <a:avLst/>
              <a:gdLst/>
              <a:ahLst/>
              <a:cxnLst/>
              <a:rect l="l" t="t" r="r" b="b"/>
              <a:pathLst>
                <a:path w="374108" h="539577">
                  <a:moveTo>
                    <a:pt x="102595" y="0"/>
                  </a:moveTo>
                  <a:lnTo>
                    <a:pt x="271513" y="0"/>
                  </a:lnTo>
                  <a:cubicBezTo>
                    <a:pt x="298723" y="0"/>
                    <a:pt x="324818" y="10809"/>
                    <a:pt x="344058" y="30049"/>
                  </a:cubicBezTo>
                  <a:cubicBezTo>
                    <a:pt x="363299" y="49290"/>
                    <a:pt x="374108" y="75385"/>
                    <a:pt x="374108" y="102595"/>
                  </a:cubicBezTo>
                  <a:lnTo>
                    <a:pt x="374108" y="436982"/>
                  </a:lnTo>
                  <a:cubicBezTo>
                    <a:pt x="374108" y="464192"/>
                    <a:pt x="363299" y="490288"/>
                    <a:pt x="344058" y="509528"/>
                  </a:cubicBezTo>
                  <a:cubicBezTo>
                    <a:pt x="324818" y="528768"/>
                    <a:pt x="298723" y="539577"/>
                    <a:pt x="271513" y="539577"/>
                  </a:cubicBezTo>
                  <a:lnTo>
                    <a:pt x="102595" y="539577"/>
                  </a:lnTo>
                  <a:cubicBezTo>
                    <a:pt x="75385" y="539577"/>
                    <a:pt x="49290" y="528768"/>
                    <a:pt x="30049" y="509528"/>
                  </a:cubicBezTo>
                  <a:cubicBezTo>
                    <a:pt x="10809" y="490288"/>
                    <a:pt x="0" y="464192"/>
                    <a:pt x="0" y="436982"/>
                  </a:cubicBezTo>
                  <a:lnTo>
                    <a:pt x="0" y="102595"/>
                  </a:lnTo>
                  <a:cubicBezTo>
                    <a:pt x="0" y="75385"/>
                    <a:pt x="10809" y="49290"/>
                    <a:pt x="30049" y="30049"/>
                  </a:cubicBezTo>
                  <a:cubicBezTo>
                    <a:pt x="49290" y="10809"/>
                    <a:pt x="75385" y="0"/>
                    <a:pt x="102595" y="0"/>
                  </a:cubicBezTo>
                  <a:close/>
                </a:path>
              </a:pathLst>
            </a:custGeom>
            <a:blipFill>
              <a:blip r:embed="rId7"/>
              <a:stretch>
                <a:fillRect l="-4655" r="-4655"/>
              </a:stretch>
            </a:blipFill>
            <a:ln w="66675" cap="rnd">
              <a:solidFill>
                <a:srgbClr val="FFDE59"/>
              </a:solidFill>
              <a:prstDash val="solid"/>
              <a:round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1324891" y="7037187"/>
            <a:ext cx="2414749" cy="687207"/>
            <a:chOff x="0" y="0"/>
            <a:chExt cx="635983" cy="18099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5983" cy="180993"/>
            </a:xfrm>
            <a:custGeom>
              <a:avLst/>
              <a:gdLst/>
              <a:ahLst/>
              <a:cxnLst/>
              <a:rect l="l" t="t" r="r" b="b"/>
              <a:pathLst>
                <a:path w="635983" h="180993">
                  <a:moveTo>
                    <a:pt x="64122" y="0"/>
                  </a:moveTo>
                  <a:lnTo>
                    <a:pt x="571861" y="0"/>
                  </a:lnTo>
                  <a:cubicBezTo>
                    <a:pt x="588868" y="0"/>
                    <a:pt x="605177" y="6756"/>
                    <a:pt x="617202" y="18781"/>
                  </a:cubicBezTo>
                  <a:cubicBezTo>
                    <a:pt x="629228" y="30806"/>
                    <a:pt x="635983" y="47116"/>
                    <a:pt x="635983" y="64122"/>
                  </a:cubicBezTo>
                  <a:lnTo>
                    <a:pt x="635983" y="116871"/>
                  </a:lnTo>
                  <a:cubicBezTo>
                    <a:pt x="635983" y="133877"/>
                    <a:pt x="629228" y="150187"/>
                    <a:pt x="617202" y="162212"/>
                  </a:cubicBezTo>
                  <a:cubicBezTo>
                    <a:pt x="605177" y="174237"/>
                    <a:pt x="588868" y="180993"/>
                    <a:pt x="571861" y="180993"/>
                  </a:cubicBezTo>
                  <a:lnTo>
                    <a:pt x="64122" y="180993"/>
                  </a:lnTo>
                  <a:cubicBezTo>
                    <a:pt x="47116" y="180993"/>
                    <a:pt x="30806" y="174237"/>
                    <a:pt x="18781" y="162212"/>
                  </a:cubicBezTo>
                  <a:cubicBezTo>
                    <a:pt x="6756" y="150187"/>
                    <a:pt x="0" y="133877"/>
                    <a:pt x="0" y="116871"/>
                  </a:cubicBezTo>
                  <a:lnTo>
                    <a:pt x="0" y="64122"/>
                  </a:lnTo>
                  <a:cubicBezTo>
                    <a:pt x="0" y="47116"/>
                    <a:pt x="6756" y="30806"/>
                    <a:pt x="18781" y="18781"/>
                  </a:cubicBezTo>
                  <a:cubicBezTo>
                    <a:pt x="30806" y="6756"/>
                    <a:pt x="47116" y="0"/>
                    <a:pt x="64122" y="0"/>
                  </a:cubicBezTo>
                  <a:close/>
                </a:path>
              </a:pathLst>
            </a:custGeom>
            <a:solidFill>
              <a:srgbClr val="F5F5F5"/>
            </a:solidFill>
            <a:ln w="66675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635983" cy="228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9"/>
                </a:lnSpc>
              </a:pPr>
              <a:r>
                <a:rPr lang="en-US" sz="2299" b="1">
                  <a:solidFill>
                    <a:srgbClr val="333333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Analytics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784203" y="3478184"/>
            <a:ext cx="2414749" cy="3482804"/>
            <a:chOff x="0" y="0"/>
            <a:chExt cx="374108" cy="53957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74108" cy="539577"/>
            </a:xfrm>
            <a:custGeom>
              <a:avLst/>
              <a:gdLst/>
              <a:ahLst/>
              <a:cxnLst/>
              <a:rect l="l" t="t" r="r" b="b"/>
              <a:pathLst>
                <a:path w="374108" h="539577">
                  <a:moveTo>
                    <a:pt x="102595" y="0"/>
                  </a:moveTo>
                  <a:lnTo>
                    <a:pt x="271513" y="0"/>
                  </a:lnTo>
                  <a:cubicBezTo>
                    <a:pt x="298723" y="0"/>
                    <a:pt x="324818" y="10809"/>
                    <a:pt x="344058" y="30049"/>
                  </a:cubicBezTo>
                  <a:cubicBezTo>
                    <a:pt x="363299" y="49290"/>
                    <a:pt x="374108" y="75385"/>
                    <a:pt x="374108" y="102595"/>
                  </a:cubicBezTo>
                  <a:lnTo>
                    <a:pt x="374108" y="436982"/>
                  </a:lnTo>
                  <a:cubicBezTo>
                    <a:pt x="374108" y="464192"/>
                    <a:pt x="363299" y="490288"/>
                    <a:pt x="344058" y="509528"/>
                  </a:cubicBezTo>
                  <a:cubicBezTo>
                    <a:pt x="324818" y="528768"/>
                    <a:pt x="298723" y="539577"/>
                    <a:pt x="271513" y="539577"/>
                  </a:cubicBezTo>
                  <a:lnTo>
                    <a:pt x="102595" y="539577"/>
                  </a:lnTo>
                  <a:cubicBezTo>
                    <a:pt x="75385" y="539577"/>
                    <a:pt x="49290" y="528768"/>
                    <a:pt x="30049" y="509528"/>
                  </a:cubicBezTo>
                  <a:cubicBezTo>
                    <a:pt x="10809" y="490288"/>
                    <a:pt x="0" y="464192"/>
                    <a:pt x="0" y="436982"/>
                  </a:cubicBezTo>
                  <a:lnTo>
                    <a:pt x="0" y="102595"/>
                  </a:lnTo>
                  <a:cubicBezTo>
                    <a:pt x="0" y="75385"/>
                    <a:pt x="10809" y="49290"/>
                    <a:pt x="30049" y="30049"/>
                  </a:cubicBezTo>
                  <a:cubicBezTo>
                    <a:pt x="49290" y="10809"/>
                    <a:pt x="75385" y="0"/>
                    <a:pt x="102595" y="0"/>
                  </a:cubicBezTo>
                  <a:close/>
                </a:path>
              </a:pathLst>
            </a:custGeom>
            <a:blipFill>
              <a:blip r:embed="rId8"/>
              <a:stretch>
                <a:fillRect l="-6913" r="-6913"/>
              </a:stretch>
            </a:blipFill>
            <a:ln w="66675" cap="rnd">
              <a:solidFill>
                <a:srgbClr val="FFDE59"/>
              </a:solidFill>
              <a:prstDash val="solid"/>
              <a:round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4784203" y="7037187"/>
            <a:ext cx="2414749" cy="687207"/>
            <a:chOff x="0" y="0"/>
            <a:chExt cx="635983" cy="18099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5983" cy="180993"/>
            </a:xfrm>
            <a:custGeom>
              <a:avLst/>
              <a:gdLst/>
              <a:ahLst/>
              <a:cxnLst/>
              <a:rect l="l" t="t" r="r" b="b"/>
              <a:pathLst>
                <a:path w="635983" h="180993">
                  <a:moveTo>
                    <a:pt x="64122" y="0"/>
                  </a:moveTo>
                  <a:lnTo>
                    <a:pt x="571861" y="0"/>
                  </a:lnTo>
                  <a:cubicBezTo>
                    <a:pt x="588868" y="0"/>
                    <a:pt x="605177" y="6756"/>
                    <a:pt x="617202" y="18781"/>
                  </a:cubicBezTo>
                  <a:cubicBezTo>
                    <a:pt x="629228" y="30806"/>
                    <a:pt x="635983" y="47116"/>
                    <a:pt x="635983" y="64122"/>
                  </a:cubicBezTo>
                  <a:lnTo>
                    <a:pt x="635983" y="116871"/>
                  </a:lnTo>
                  <a:cubicBezTo>
                    <a:pt x="635983" y="133877"/>
                    <a:pt x="629228" y="150187"/>
                    <a:pt x="617202" y="162212"/>
                  </a:cubicBezTo>
                  <a:cubicBezTo>
                    <a:pt x="605177" y="174237"/>
                    <a:pt x="588868" y="180993"/>
                    <a:pt x="571861" y="180993"/>
                  </a:cubicBezTo>
                  <a:lnTo>
                    <a:pt x="64122" y="180993"/>
                  </a:lnTo>
                  <a:cubicBezTo>
                    <a:pt x="47116" y="180993"/>
                    <a:pt x="30806" y="174237"/>
                    <a:pt x="18781" y="162212"/>
                  </a:cubicBezTo>
                  <a:cubicBezTo>
                    <a:pt x="6756" y="150187"/>
                    <a:pt x="0" y="133877"/>
                    <a:pt x="0" y="116871"/>
                  </a:cubicBezTo>
                  <a:lnTo>
                    <a:pt x="0" y="64122"/>
                  </a:lnTo>
                  <a:cubicBezTo>
                    <a:pt x="0" y="47116"/>
                    <a:pt x="6756" y="30806"/>
                    <a:pt x="18781" y="18781"/>
                  </a:cubicBezTo>
                  <a:cubicBezTo>
                    <a:pt x="30806" y="6756"/>
                    <a:pt x="47116" y="0"/>
                    <a:pt x="64122" y="0"/>
                  </a:cubicBezTo>
                  <a:close/>
                </a:path>
              </a:pathLst>
            </a:custGeom>
            <a:solidFill>
              <a:srgbClr val="F5F5F5"/>
            </a:solidFill>
            <a:ln w="66675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635983" cy="228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9"/>
                </a:lnSpc>
              </a:pPr>
              <a:r>
                <a:rPr lang="en-US" sz="2299" b="1">
                  <a:solidFill>
                    <a:srgbClr val="333333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Tracking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547027" y="571798"/>
            <a:ext cx="7087065" cy="33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b="1" spc="19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HoneyMoney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096376" y="9340399"/>
            <a:ext cx="873698" cy="2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8"/>
              </a:lnSpc>
              <a:spcBef>
                <a:spcPct val="0"/>
              </a:spcBef>
            </a:pPr>
            <a:r>
              <a:rPr lang="en-US" sz="1598" b="1" spc="15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882414" y="9341064"/>
            <a:ext cx="45050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55083" y="1458746"/>
            <a:ext cx="16377834" cy="123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43"/>
              </a:lnSpc>
            </a:pPr>
            <a:r>
              <a:rPr lang="en-US" sz="8993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Live Now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68591" y="7724394"/>
            <a:ext cx="2583011" cy="1533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2600" b="1" i="1" spc="26">
                <a:solidFill>
                  <a:srgbClr val="F5F5F5"/>
                </a:solidFill>
                <a:latin typeface="Neue Montreal Medium Italics"/>
                <a:ea typeface="Neue Montreal Medium Italics"/>
                <a:cs typeface="Neue Montreal Medium Italics"/>
                <a:sym typeface="Neue Montreal Medium Italics"/>
              </a:rPr>
              <a:t>Public app live at honeymoney.app,</a:t>
            </a:r>
          </a:p>
          <a:p>
            <a:pPr algn="l">
              <a:lnSpc>
                <a:spcPts val="3042"/>
              </a:lnSpc>
            </a:pPr>
            <a:r>
              <a:rPr lang="en-US" sz="2600" b="1" i="1" spc="26">
                <a:solidFill>
                  <a:srgbClr val="F5F5F5"/>
                </a:solidFill>
                <a:latin typeface="Neue Montreal Medium Italics"/>
                <a:ea typeface="Neue Montreal Medium Italics"/>
                <a:cs typeface="Neue Montreal Medium Italics"/>
                <a:sym typeface="Neue Montreal Medium Italics"/>
              </a:rPr>
              <a:t> a real build, no backdated code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427902" y="7724394"/>
            <a:ext cx="2858691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2600" b="1" i="1" spc="26">
                <a:solidFill>
                  <a:srgbClr val="F5F5F5"/>
                </a:solidFill>
                <a:latin typeface="Neue Montreal Medium Italics"/>
                <a:ea typeface="Neue Montreal Medium Italics"/>
                <a:cs typeface="Neue Montreal Medium Italics"/>
                <a:sym typeface="Neue Montreal Medium Italics"/>
              </a:rPr>
              <a:t>Expenditure by day, week, month and with forecast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34565" y="7724394"/>
            <a:ext cx="2909445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2600" b="1" i="1" spc="26">
                <a:solidFill>
                  <a:srgbClr val="F5F5F5"/>
                </a:solidFill>
                <a:latin typeface="Neue Montreal Medium Italics"/>
                <a:ea typeface="Neue Montreal Medium Italics"/>
                <a:cs typeface="Neue Montreal Medium Italics"/>
                <a:sym typeface="Neue Montreal Medium Italics"/>
              </a:rPr>
              <a:t>Add by text, scan a receipt or statement import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346524" y="7724394"/>
            <a:ext cx="2766743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2600" i="1" spc="26">
                <a:solidFill>
                  <a:srgbClr val="F5F5F5"/>
                </a:solidFill>
                <a:latin typeface="Neue Montreal Italics"/>
                <a:ea typeface="Neue Montreal Italics"/>
                <a:cs typeface="Neue Montreal Italics"/>
                <a:sym typeface="Neue Montreal Italics"/>
              </a:rPr>
              <a:t>Visual analytics on income versus spending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805836" y="7724394"/>
            <a:ext cx="2393116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2600" b="1" i="1" spc="26">
                <a:solidFill>
                  <a:srgbClr val="F5F5F5"/>
                </a:solidFill>
                <a:latin typeface="Neue Montreal Medium Italics"/>
                <a:ea typeface="Neue Montreal Medium Italics"/>
                <a:cs typeface="Neue Montreal Medium Italics"/>
                <a:sym typeface="Neue Montreal Medium Italics"/>
              </a:rPr>
              <a:t>Easy tracking of every expense and record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2844" y="9340399"/>
            <a:ext cx="2945600" cy="27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03"/>
              </a:lnSpc>
              <a:spcBef>
                <a:spcPct val="0"/>
              </a:spcBef>
            </a:pPr>
            <a:r>
              <a:rPr lang="en-US" sz="1573" spc="15">
                <a:solidFill>
                  <a:srgbClr val="F5F5F5"/>
                </a:solidFill>
                <a:latin typeface="Neue Montreal"/>
                <a:ea typeface="Neue Montreal"/>
                <a:cs typeface="Neue Montreal"/>
                <a:sym typeface="Neue Montreal"/>
              </a:rPr>
              <a:t>honeymoney.app</a:t>
            </a:r>
          </a:p>
        </p:txBody>
      </p:sp>
      <p:sp>
        <p:nvSpPr>
          <p:cNvPr id="42" name="Freeform 42"/>
          <p:cNvSpPr/>
          <p:nvPr/>
        </p:nvSpPr>
        <p:spPr>
          <a:xfrm>
            <a:off x="801262" y="482100"/>
            <a:ext cx="623853" cy="607767"/>
          </a:xfrm>
          <a:custGeom>
            <a:avLst/>
            <a:gdLst/>
            <a:ahLst/>
            <a:cxnLst/>
            <a:rect l="l" t="t" r="r" b="b"/>
            <a:pathLst>
              <a:path w="623853" h="607767">
                <a:moveTo>
                  <a:pt x="0" y="0"/>
                </a:moveTo>
                <a:lnTo>
                  <a:pt x="623853" y="0"/>
                </a:lnTo>
                <a:lnTo>
                  <a:pt x="623853" y="607767"/>
                </a:lnTo>
                <a:lnTo>
                  <a:pt x="0" y="6077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r="-8062" b="-4342"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968591" y="2633549"/>
            <a:ext cx="3814465" cy="33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spcBef>
                <a:spcPct val="0"/>
              </a:spcBef>
            </a:pPr>
            <a:r>
              <a:rPr lang="en-US" sz="1998" spc="239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LIVE NOW, NOT A CONCEPT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3450" y="4706608"/>
            <a:ext cx="5332579" cy="2326989"/>
            <a:chOff x="0" y="0"/>
            <a:chExt cx="1404465" cy="6128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04465" cy="612869"/>
            </a:xfrm>
            <a:custGeom>
              <a:avLst/>
              <a:gdLst/>
              <a:ahLst/>
              <a:cxnLst/>
              <a:rect l="l" t="t" r="r" b="b"/>
              <a:pathLst>
                <a:path w="1404465" h="612869">
                  <a:moveTo>
                    <a:pt x="72591" y="0"/>
                  </a:moveTo>
                  <a:lnTo>
                    <a:pt x="1331875" y="0"/>
                  </a:lnTo>
                  <a:cubicBezTo>
                    <a:pt x="1371965" y="0"/>
                    <a:pt x="1404465" y="32500"/>
                    <a:pt x="1404465" y="72591"/>
                  </a:cubicBezTo>
                  <a:lnTo>
                    <a:pt x="1404465" y="540279"/>
                  </a:lnTo>
                  <a:cubicBezTo>
                    <a:pt x="1404465" y="580369"/>
                    <a:pt x="1371965" y="612869"/>
                    <a:pt x="1331875" y="612869"/>
                  </a:cubicBezTo>
                  <a:lnTo>
                    <a:pt x="72591" y="612869"/>
                  </a:lnTo>
                  <a:cubicBezTo>
                    <a:pt x="32500" y="612869"/>
                    <a:pt x="0" y="580369"/>
                    <a:pt x="0" y="540279"/>
                  </a:cubicBezTo>
                  <a:lnTo>
                    <a:pt x="0" y="72591"/>
                  </a:lnTo>
                  <a:cubicBezTo>
                    <a:pt x="0" y="32500"/>
                    <a:pt x="32500" y="0"/>
                    <a:pt x="7259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04465" cy="650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77710" y="4706608"/>
            <a:ext cx="5332579" cy="2326989"/>
            <a:chOff x="0" y="0"/>
            <a:chExt cx="1404465" cy="6128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4465" cy="612869"/>
            </a:xfrm>
            <a:custGeom>
              <a:avLst/>
              <a:gdLst/>
              <a:ahLst/>
              <a:cxnLst/>
              <a:rect l="l" t="t" r="r" b="b"/>
              <a:pathLst>
                <a:path w="1404465" h="612869">
                  <a:moveTo>
                    <a:pt x="72591" y="0"/>
                  </a:moveTo>
                  <a:lnTo>
                    <a:pt x="1331875" y="0"/>
                  </a:lnTo>
                  <a:cubicBezTo>
                    <a:pt x="1371965" y="0"/>
                    <a:pt x="1404465" y="32500"/>
                    <a:pt x="1404465" y="72591"/>
                  </a:cubicBezTo>
                  <a:lnTo>
                    <a:pt x="1404465" y="540279"/>
                  </a:lnTo>
                  <a:cubicBezTo>
                    <a:pt x="1404465" y="580369"/>
                    <a:pt x="1371965" y="612869"/>
                    <a:pt x="1331875" y="612869"/>
                  </a:cubicBezTo>
                  <a:lnTo>
                    <a:pt x="72591" y="612869"/>
                  </a:lnTo>
                  <a:cubicBezTo>
                    <a:pt x="32500" y="612869"/>
                    <a:pt x="0" y="580369"/>
                    <a:pt x="0" y="540279"/>
                  </a:cubicBezTo>
                  <a:lnTo>
                    <a:pt x="0" y="72591"/>
                  </a:lnTo>
                  <a:cubicBezTo>
                    <a:pt x="0" y="32500"/>
                    <a:pt x="32500" y="0"/>
                    <a:pt x="7259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04465" cy="650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19840" y="4706608"/>
            <a:ext cx="5332579" cy="2326989"/>
            <a:chOff x="0" y="0"/>
            <a:chExt cx="1404465" cy="6128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04465" cy="612869"/>
            </a:xfrm>
            <a:custGeom>
              <a:avLst/>
              <a:gdLst/>
              <a:ahLst/>
              <a:cxnLst/>
              <a:rect l="l" t="t" r="r" b="b"/>
              <a:pathLst>
                <a:path w="1404465" h="612869">
                  <a:moveTo>
                    <a:pt x="72591" y="0"/>
                  </a:moveTo>
                  <a:lnTo>
                    <a:pt x="1331875" y="0"/>
                  </a:lnTo>
                  <a:cubicBezTo>
                    <a:pt x="1371965" y="0"/>
                    <a:pt x="1404465" y="32500"/>
                    <a:pt x="1404465" y="72591"/>
                  </a:cubicBezTo>
                  <a:lnTo>
                    <a:pt x="1404465" y="540279"/>
                  </a:lnTo>
                  <a:cubicBezTo>
                    <a:pt x="1404465" y="580369"/>
                    <a:pt x="1371965" y="612869"/>
                    <a:pt x="1331875" y="612869"/>
                  </a:cubicBezTo>
                  <a:lnTo>
                    <a:pt x="72591" y="612869"/>
                  </a:lnTo>
                  <a:cubicBezTo>
                    <a:pt x="32500" y="612869"/>
                    <a:pt x="0" y="580369"/>
                    <a:pt x="0" y="540279"/>
                  </a:cubicBezTo>
                  <a:lnTo>
                    <a:pt x="0" y="72591"/>
                  </a:lnTo>
                  <a:cubicBezTo>
                    <a:pt x="0" y="32500"/>
                    <a:pt x="32500" y="0"/>
                    <a:pt x="7259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04465" cy="6509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86806" y="4814699"/>
            <a:ext cx="672441" cy="589496"/>
          </a:xfrm>
          <a:custGeom>
            <a:avLst/>
            <a:gdLst/>
            <a:ahLst/>
            <a:cxnLst/>
            <a:rect l="l" t="t" r="r" b="b"/>
            <a:pathLst>
              <a:path w="672441" h="589496">
                <a:moveTo>
                  <a:pt x="0" y="0"/>
                </a:moveTo>
                <a:lnTo>
                  <a:pt x="672440" y="0"/>
                </a:lnTo>
                <a:lnTo>
                  <a:pt x="672440" y="589496"/>
                </a:lnTo>
                <a:lnTo>
                  <a:pt x="0" y="589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830910" y="4814699"/>
            <a:ext cx="602424" cy="673357"/>
          </a:xfrm>
          <a:custGeom>
            <a:avLst/>
            <a:gdLst/>
            <a:ahLst/>
            <a:cxnLst/>
            <a:rect l="l" t="t" r="r" b="b"/>
            <a:pathLst>
              <a:path w="602424" h="673357">
                <a:moveTo>
                  <a:pt x="0" y="0"/>
                </a:moveTo>
                <a:lnTo>
                  <a:pt x="602424" y="0"/>
                </a:lnTo>
                <a:lnTo>
                  <a:pt x="602424" y="673357"/>
                </a:lnTo>
                <a:lnTo>
                  <a:pt x="0" y="6733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379207" y="4762700"/>
            <a:ext cx="707641" cy="641495"/>
          </a:xfrm>
          <a:custGeom>
            <a:avLst/>
            <a:gdLst/>
            <a:ahLst/>
            <a:cxnLst/>
            <a:rect l="l" t="t" r="r" b="b"/>
            <a:pathLst>
              <a:path w="707641" h="641495">
                <a:moveTo>
                  <a:pt x="0" y="0"/>
                </a:moveTo>
                <a:lnTo>
                  <a:pt x="707641" y="0"/>
                </a:lnTo>
                <a:lnTo>
                  <a:pt x="707641" y="641495"/>
                </a:lnTo>
                <a:lnTo>
                  <a:pt x="0" y="6414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6698626" y="472575"/>
            <a:ext cx="641254" cy="484209"/>
            <a:chOff x="0" y="0"/>
            <a:chExt cx="168890" cy="1275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8890" cy="127528"/>
            </a:xfrm>
            <a:custGeom>
              <a:avLst/>
              <a:gdLst/>
              <a:ahLst/>
              <a:cxnLst/>
              <a:rect l="l" t="t" r="r" b="b"/>
              <a:pathLst>
                <a:path w="168890" h="127528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F5F5F5"/>
            </a:soli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flipH="1">
            <a:off x="16867220" y="593606"/>
            <a:ext cx="304067" cy="242148"/>
          </a:xfrm>
          <a:custGeom>
            <a:avLst/>
            <a:gdLst/>
            <a:ahLst/>
            <a:cxnLst/>
            <a:rect l="l" t="t" r="r" b="b"/>
            <a:pathLst>
              <a:path w="304067" h="242148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0" y="1185539"/>
            <a:ext cx="18288000" cy="2962197"/>
          </a:xfrm>
          <a:custGeom>
            <a:avLst/>
            <a:gdLst/>
            <a:ahLst/>
            <a:cxnLst/>
            <a:rect l="l" t="t" r="r" b="b"/>
            <a:pathLst>
              <a:path w="18288000" h="2962197">
                <a:moveTo>
                  <a:pt x="0" y="0"/>
                </a:moveTo>
                <a:lnTo>
                  <a:pt x="18288000" y="0"/>
                </a:lnTo>
                <a:lnTo>
                  <a:pt x="18288000" y="2962196"/>
                </a:lnTo>
                <a:lnTo>
                  <a:pt x="0" y="29621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6491" b="-214837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6096376" y="9340399"/>
            <a:ext cx="873698" cy="2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8"/>
              </a:lnSpc>
              <a:spcBef>
                <a:spcPct val="0"/>
              </a:spcBef>
            </a:pPr>
            <a:r>
              <a:rPr lang="en-US" sz="1598" b="1" spc="15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882414" y="9340399"/>
            <a:ext cx="45050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3450" y="1481116"/>
            <a:ext cx="16399467" cy="226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59"/>
              </a:lnSpc>
            </a:pPr>
            <a:r>
              <a:rPr lang="en-US" sz="9199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The 3-Bucket Method</a:t>
            </a:r>
          </a:p>
          <a:p>
            <a:pPr marL="0" lvl="0" indent="0" algn="l">
              <a:lnSpc>
                <a:spcPts val="8085"/>
              </a:lnSpc>
            </a:pPr>
            <a:r>
              <a:rPr lang="en-US" sz="7700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77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with a Score that Tells You if it Works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6650" y="5461872"/>
            <a:ext cx="4979379" cy="1181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</a:pPr>
            <a:r>
              <a:rPr lang="en-US" sz="2600" b="1" spc="26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Rent, bills, and essentials, shared and visible so both partners know what’s outstanding.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30910" y="5461872"/>
            <a:ext cx="4711532" cy="1181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</a:pPr>
            <a:r>
              <a:rPr lang="en-US" sz="2600" b="1" spc="26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Savings Set as a percentage, moved before it can be spent. Security without willpower.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373039" y="5461872"/>
            <a:ext cx="4871864" cy="1181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</a:pPr>
            <a:r>
              <a:rPr lang="en-US" sz="2600" b="1" spc="26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Personal money stays private by default, with no explanation needed to household members.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84525" y="4848225"/>
            <a:ext cx="436790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</a:pPr>
            <a:r>
              <a:rPr lang="en-US" sz="3000" b="1" spc="3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Must‑Paid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11708" y="4848225"/>
            <a:ext cx="402020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</a:pPr>
            <a:r>
              <a:rPr lang="en-US" sz="3000" b="1" spc="3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Savings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285328" y="4848225"/>
            <a:ext cx="402020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</a:pPr>
            <a:r>
              <a:rPr lang="en-US" sz="3000" b="1" spc="3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Privacy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42914" y="571798"/>
            <a:ext cx="7087065" cy="33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b="1" spc="19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HoneyMoney</a:t>
            </a:r>
          </a:p>
        </p:txBody>
      </p:sp>
      <p:sp>
        <p:nvSpPr>
          <p:cNvPr id="29" name="Freeform 29"/>
          <p:cNvSpPr/>
          <p:nvPr/>
        </p:nvSpPr>
        <p:spPr>
          <a:xfrm>
            <a:off x="801262" y="482100"/>
            <a:ext cx="623853" cy="607767"/>
          </a:xfrm>
          <a:custGeom>
            <a:avLst/>
            <a:gdLst/>
            <a:ahLst/>
            <a:cxnLst/>
            <a:rect l="l" t="t" r="r" b="b"/>
            <a:pathLst>
              <a:path w="623853" h="607767">
                <a:moveTo>
                  <a:pt x="0" y="0"/>
                </a:moveTo>
                <a:lnTo>
                  <a:pt x="623853" y="0"/>
                </a:lnTo>
                <a:lnTo>
                  <a:pt x="623853" y="607767"/>
                </a:lnTo>
                <a:lnTo>
                  <a:pt x="0" y="6077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8062" b="-4342"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878117" y="7580942"/>
            <a:ext cx="16638746" cy="1639968"/>
            <a:chOff x="0" y="0"/>
            <a:chExt cx="4382221" cy="43192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382221" cy="431926"/>
            </a:xfrm>
            <a:custGeom>
              <a:avLst/>
              <a:gdLst/>
              <a:ahLst/>
              <a:cxnLst/>
              <a:rect l="l" t="t" r="r" b="b"/>
              <a:pathLst>
                <a:path w="4382221" h="431926">
                  <a:moveTo>
                    <a:pt x="23265" y="0"/>
                  </a:moveTo>
                  <a:lnTo>
                    <a:pt x="4358956" y="0"/>
                  </a:lnTo>
                  <a:cubicBezTo>
                    <a:pt x="4371805" y="0"/>
                    <a:pt x="4382221" y="10416"/>
                    <a:pt x="4382221" y="23265"/>
                  </a:cubicBezTo>
                  <a:lnTo>
                    <a:pt x="4382221" y="408661"/>
                  </a:lnTo>
                  <a:cubicBezTo>
                    <a:pt x="4382221" y="421510"/>
                    <a:pt x="4371805" y="431926"/>
                    <a:pt x="4358956" y="431926"/>
                  </a:cubicBezTo>
                  <a:lnTo>
                    <a:pt x="23265" y="431926"/>
                  </a:lnTo>
                  <a:cubicBezTo>
                    <a:pt x="10416" y="431926"/>
                    <a:pt x="0" y="421510"/>
                    <a:pt x="0" y="408661"/>
                  </a:cubicBezTo>
                  <a:lnTo>
                    <a:pt x="0" y="23265"/>
                  </a:lnTo>
                  <a:cubicBezTo>
                    <a:pt x="0" y="10416"/>
                    <a:pt x="10416" y="0"/>
                    <a:pt x="2326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4382221" cy="4700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286650" y="8466767"/>
            <a:ext cx="16018886" cy="44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 b="1" spc="26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Building, Steady, Strong, and Thriving: a ladder, not a grade, with every point traceable.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046608" y="7870539"/>
            <a:ext cx="4020208" cy="5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</a:pPr>
            <a:r>
              <a:rPr lang="en-US" sz="3000" b="1" spc="3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Health Score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8117" y="7033596"/>
            <a:ext cx="16347285" cy="5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How our money works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3949" y="4120161"/>
            <a:ext cx="9678825" cy="5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Where our money goes</a:t>
            </a:r>
          </a:p>
        </p:txBody>
      </p:sp>
      <p:sp>
        <p:nvSpPr>
          <p:cNvPr id="37" name="Freeform 37"/>
          <p:cNvSpPr/>
          <p:nvPr/>
        </p:nvSpPr>
        <p:spPr>
          <a:xfrm>
            <a:off x="1286650" y="7780967"/>
            <a:ext cx="609600" cy="676275"/>
          </a:xfrm>
          <a:custGeom>
            <a:avLst/>
            <a:gdLst/>
            <a:ahLst/>
            <a:cxnLst/>
            <a:rect l="l" t="t" r="r" b="b"/>
            <a:pathLst>
              <a:path w="609600" h="676275">
                <a:moveTo>
                  <a:pt x="0" y="0"/>
                </a:moveTo>
                <a:lnTo>
                  <a:pt x="609600" y="0"/>
                </a:lnTo>
                <a:lnTo>
                  <a:pt x="609600" y="676275"/>
                </a:lnTo>
                <a:lnTo>
                  <a:pt x="0" y="6762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7716" t="-17716" r="-17716" b="-17716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3504" y="5784923"/>
            <a:ext cx="6099912" cy="3124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8"/>
              </a:lnSpc>
            </a:pPr>
            <a:r>
              <a:rPr lang="en-US" sz="2998" b="1" spc="29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Add a spend in seconds, </a:t>
            </a:r>
          </a:p>
          <a:p>
            <a:pPr marL="0" lvl="0" indent="0" algn="l">
              <a:lnSpc>
                <a:spcPts val="4198"/>
              </a:lnSpc>
            </a:pPr>
            <a:r>
              <a:rPr lang="en-US" sz="2998" b="1" spc="29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share a screenshot, scan a receipt,  photo capture, or import statement.</a:t>
            </a:r>
          </a:p>
          <a:p>
            <a:pPr marL="0" lvl="0" indent="0" algn="l">
              <a:lnSpc>
                <a:spcPts val="4198"/>
              </a:lnSpc>
            </a:pPr>
            <a:r>
              <a:rPr lang="en-US" sz="2998" b="1" spc="29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No bank link. </a:t>
            </a:r>
          </a:p>
          <a:p>
            <a:pPr marL="0" lvl="0" indent="0" algn="l">
              <a:lnSpc>
                <a:spcPts val="4198"/>
              </a:lnSpc>
            </a:pPr>
            <a:r>
              <a:rPr lang="en-US" sz="2998" b="1" spc="29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No forms. </a:t>
            </a:r>
          </a:p>
          <a:p>
            <a:pPr marL="0" lvl="0" indent="0" algn="l">
              <a:lnSpc>
                <a:spcPts val="4198"/>
              </a:lnSpc>
            </a:pPr>
            <a:r>
              <a:rPr lang="en-US" sz="2998" b="1" spc="29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No spreadsheet.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01262" y="1835582"/>
            <a:ext cx="7537157" cy="244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50"/>
              </a:lnSpc>
            </a:pPr>
            <a:r>
              <a:rPr lang="en-US" sz="9000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Product</a:t>
            </a:r>
          </a:p>
          <a:p>
            <a:pPr marL="0" lvl="0" indent="0" algn="l">
              <a:lnSpc>
                <a:spcPts val="9450"/>
              </a:lnSpc>
            </a:pPr>
            <a:r>
              <a:rPr lang="en-US" sz="9000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Experience</a:t>
            </a:r>
          </a:p>
        </p:txBody>
      </p:sp>
      <p:sp>
        <p:nvSpPr>
          <p:cNvPr id="4" name="Freeform 4"/>
          <p:cNvSpPr/>
          <p:nvPr/>
        </p:nvSpPr>
        <p:spPr>
          <a:xfrm>
            <a:off x="13270844" y="5921863"/>
            <a:ext cx="668784" cy="773357"/>
          </a:xfrm>
          <a:custGeom>
            <a:avLst/>
            <a:gdLst/>
            <a:ahLst/>
            <a:cxnLst/>
            <a:rect l="l" t="t" r="r" b="b"/>
            <a:pathLst>
              <a:path w="668784" h="773357">
                <a:moveTo>
                  <a:pt x="0" y="0"/>
                </a:moveTo>
                <a:lnTo>
                  <a:pt x="668784" y="0"/>
                </a:lnTo>
                <a:lnTo>
                  <a:pt x="668784" y="773357"/>
                </a:lnTo>
                <a:lnTo>
                  <a:pt x="0" y="773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793381" y="6067255"/>
            <a:ext cx="724198" cy="620291"/>
          </a:xfrm>
          <a:custGeom>
            <a:avLst/>
            <a:gdLst/>
            <a:ahLst/>
            <a:cxnLst/>
            <a:rect l="l" t="t" r="r" b="b"/>
            <a:pathLst>
              <a:path w="724198" h="620291">
                <a:moveTo>
                  <a:pt x="0" y="0"/>
                </a:moveTo>
                <a:lnTo>
                  <a:pt x="724198" y="0"/>
                </a:lnTo>
                <a:lnTo>
                  <a:pt x="724198" y="620291"/>
                </a:lnTo>
                <a:lnTo>
                  <a:pt x="0" y="6202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259771" y="1812467"/>
            <a:ext cx="689353" cy="745953"/>
          </a:xfrm>
          <a:custGeom>
            <a:avLst/>
            <a:gdLst/>
            <a:ahLst/>
            <a:cxnLst/>
            <a:rect l="l" t="t" r="r" b="b"/>
            <a:pathLst>
              <a:path w="689353" h="745953">
                <a:moveTo>
                  <a:pt x="0" y="0"/>
                </a:moveTo>
                <a:lnTo>
                  <a:pt x="689353" y="0"/>
                </a:lnTo>
                <a:lnTo>
                  <a:pt x="689353" y="745953"/>
                </a:lnTo>
                <a:lnTo>
                  <a:pt x="0" y="745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47027" y="571798"/>
            <a:ext cx="7087065" cy="33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b="1" spc="19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HoneyMoney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096376" y="9340399"/>
            <a:ext cx="873698" cy="2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8"/>
              </a:lnSpc>
              <a:spcBef>
                <a:spcPct val="0"/>
              </a:spcBef>
            </a:pPr>
            <a:r>
              <a:rPr lang="en-US" sz="1598" b="1" spc="15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82414" y="9340399"/>
            <a:ext cx="450503" cy="2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8"/>
              </a:lnSpc>
              <a:spcBef>
                <a:spcPct val="0"/>
              </a:spcBef>
            </a:pPr>
            <a:r>
              <a:rPr lang="en-US" sz="1598" spc="15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05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2844" y="9340399"/>
            <a:ext cx="2945600" cy="2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8"/>
              </a:lnSpc>
              <a:spcBef>
                <a:spcPct val="0"/>
              </a:spcBef>
            </a:pPr>
            <a:r>
              <a:rPr lang="en-US" sz="1598" spc="15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honeymoney.app</a:t>
            </a:r>
          </a:p>
        </p:txBody>
      </p:sp>
      <p:sp>
        <p:nvSpPr>
          <p:cNvPr id="11" name="Freeform 11"/>
          <p:cNvSpPr/>
          <p:nvPr/>
        </p:nvSpPr>
        <p:spPr>
          <a:xfrm>
            <a:off x="8741181" y="1625292"/>
            <a:ext cx="754003" cy="1274466"/>
          </a:xfrm>
          <a:custGeom>
            <a:avLst/>
            <a:gdLst/>
            <a:ahLst/>
            <a:cxnLst/>
            <a:rect l="l" t="t" r="r" b="b"/>
            <a:pathLst>
              <a:path w="754003" h="1274466">
                <a:moveTo>
                  <a:pt x="0" y="0"/>
                </a:moveTo>
                <a:lnTo>
                  <a:pt x="754003" y="0"/>
                </a:lnTo>
                <a:lnTo>
                  <a:pt x="754003" y="1274466"/>
                </a:lnTo>
                <a:lnTo>
                  <a:pt x="0" y="12744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741023" y="3774039"/>
            <a:ext cx="4212041" cy="1430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8"/>
              </a:lnSpc>
            </a:pPr>
            <a:r>
              <a:rPr lang="en-US" sz="2600" b="1" spc="26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Capture spendings through   photo-capture, scan receipt, or import statement.</a:t>
            </a:r>
          </a:p>
          <a:p>
            <a:pPr marL="0" lvl="0" indent="0" algn="l">
              <a:lnSpc>
                <a:spcPts val="2808"/>
              </a:lnSpc>
            </a:pPr>
            <a:r>
              <a:rPr lang="en-US" sz="2600" b="1" spc="26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No bank connection required.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41023" y="3166458"/>
            <a:ext cx="4020208" cy="5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</a:pPr>
            <a:r>
              <a:rPr lang="en-US" sz="3000" b="1" spc="3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Easy Capture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91450" y="3774039"/>
            <a:ext cx="4428862" cy="1077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8"/>
              </a:lnSpc>
            </a:pPr>
            <a:r>
              <a:rPr lang="en-US" sz="2600" b="1" spc="26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Spending by day, week and month, with forward-looking forecast built in.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91450" y="3166458"/>
            <a:ext cx="402020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</a:pPr>
            <a:r>
              <a:rPr lang="en-US" sz="3000" b="1" spc="3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Dashboards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93381" y="7453485"/>
            <a:ext cx="4159683" cy="1430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8"/>
              </a:lnSpc>
            </a:pPr>
            <a:r>
              <a:rPr lang="en-US" sz="2600" b="1" spc="26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Multiple languages and currencies, so every family member can actually use it, not just the one who set it up.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93381" y="6799995"/>
            <a:ext cx="425372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</a:pPr>
            <a:r>
              <a:rPr lang="en-US" sz="3000" b="1" spc="3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Language &amp; Currency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291450" y="7453485"/>
            <a:ext cx="4020208" cy="1430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8"/>
              </a:lnSpc>
            </a:pPr>
            <a:r>
              <a:rPr lang="en-US" sz="2600" b="1" spc="26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The forecast doesn't just report. It warns: “Short by the 24th at this pace, RM120 less on dining fixes it.”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91450" y="6799995"/>
            <a:ext cx="4604000" cy="5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</a:pPr>
            <a:r>
              <a:rPr lang="en-US" sz="3000" b="1" spc="3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Sees It Coming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6698626" y="472575"/>
            <a:ext cx="641254" cy="484209"/>
            <a:chOff x="0" y="0"/>
            <a:chExt cx="168890" cy="1275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8890" cy="127528"/>
            </a:xfrm>
            <a:custGeom>
              <a:avLst/>
              <a:gdLst/>
              <a:ahLst/>
              <a:cxnLst/>
              <a:rect l="l" t="t" r="r" b="b"/>
              <a:pathLst>
                <a:path w="168890" h="127528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FF751F"/>
            </a:solidFill>
            <a:ln cap="rnd">
              <a:noFill/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 flipH="1">
            <a:off x="16867220" y="593606"/>
            <a:ext cx="304067" cy="242148"/>
          </a:xfrm>
          <a:custGeom>
            <a:avLst/>
            <a:gdLst/>
            <a:ahLst/>
            <a:cxnLst/>
            <a:rect l="l" t="t" r="r" b="b"/>
            <a:pathLst>
              <a:path w="304067" h="242148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942844" y="5083755"/>
            <a:ext cx="660730" cy="496000"/>
          </a:xfrm>
          <a:custGeom>
            <a:avLst/>
            <a:gdLst/>
            <a:ahLst/>
            <a:cxnLst/>
            <a:rect l="l" t="t" r="r" b="b"/>
            <a:pathLst>
              <a:path w="660730" h="496000">
                <a:moveTo>
                  <a:pt x="0" y="0"/>
                </a:moveTo>
                <a:lnTo>
                  <a:pt x="660730" y="0"/>
                </a:lnTo>
                <a:lnTo>
                  <a:pt x="660730" y="495999"/>
                </a:lnTo>
                <a:lnTo>
                  <a:pt x="0" y="4959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01262" y="472575"/>
            <a:ext cx="683572" cy="647595"/>
          </a:xfrm>
          <a:custGeom>
            <a:avLst/>
            <a:gdLst/>
            <a:ahLst/>
            <a:cxnLst/>
            <a:rect l="l" t="t" r="r" b="b"/>
            <a:pathLst>
              <a:path w="683572" h="647595">
                <a:moveTo>
                  <a:pt x="0" y="0"/>
                </a:moveTo>
                <a:lnTo>
                  <a:pt x="683572" y="0"/>
                </a:lnTo>
                <a:lnTo>
                  <a:pt x="683572" y="647595"/>
                </a:lnTo>
                <a:lnTo>
                  <a:pt x="0" y="6475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2844" y="4175161"/>
            <a:ext cx="13471442" cy="1602384"/>
          </a:xfrm>
          <a:custGeom>
            <a:avLst/>
            <a:gdLst/>
            <a:ahLst/>
            <a:cxnLst/>
            <a:rect l="l" t="t" r="r" b="b"/>
            <a:pathLst>
              <a:path w="13471442" h="1602384">
                <a:moveTo>
                  <a:pt x="0" y="0"/>
                </a:moveTo>
                <a:lnTo>
                  <a:pt x="13471442" y="0"/>
                </a:lnTo>
                <a:lnTo>
                  <a:pt x="13471442" y="1602384"/>
                </a:lnTo>
                <a:lnTo>
                  <a:pt x="0" y="1602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70" r="-118808" b="-90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698626" y="472575"/>
            <a:ext cx="641254" cy="484209"/>
            <a:chOff x="0" y="0"/>
            <a:chExt cx="168890" cy="1275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890" cy="127528"/>
            </a:xfrm>
            <a:custGeom>
              <a:avLst/>
              <a:gdLst/>
              <a:ahLst/>
              <a:cxnLst/>
              <a:rect l="l" t="t" r="r" b="b"/>
              <a:pathLst>
                <a:path w="168890" h="127528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6867220" y="593606"/>
            <a:ext cx="304067" cy="242148"/>
          </a:xfrm>
          <a:custGeom>
            <a:avLst/>
            <a:gdLst/>
            <a:ahLst/>
            <a:cxnLst/>
            <a:rect l="l" t="t" r="r" b="b"/>
            <a:pathLst>
              <a:path w="304067" h="242148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1176523"/>
            <a:ext cx="18288000" cy="2971212"/>
          </a:xfrm>
          <a:custGeom>
            <a:avLst/>
            <a:gdLst/>
            <a:ahLst/>
            <a:cxnLst/>
            <a:rect l="l" t="t" r="r" b="b"/>
            <a:pathLst>
              <a:path w="18288000" h="2971212">
                <a:moveTo>
                  <a:pt x="0" y="0"/>
                </a:moveTo>
                <a:lnTo>
                  <a:pt x="18288000" y="0"/>
                </a:lnTo>
                <a:lnTo>
                  <a:pt x="18288000" y="2971212"/>
                </a:lnTo>
                <a:lnTo>
                  <a:pt x="0" y="2971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1393" b="-27868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47027" y="571798"/>
            <a:ext cx="7087065" cy="33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b="1" spc="19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HoneyMoney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096376" y="9340399"/>
            <a:ext cx="873698" cy="2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8"/>
              </a:lnSpc>
              <a:spcBef>
                <a:spcPct val="0"/>
              </a:spcBef>
            </a:pPr>
            <a:r>
              <a:rPr lang="en-US" sz="1598" b="1" spc="15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889377" y="9341064"/>
            <a:ext cx="45050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1980" y="6164953"/>
            <a:ext cx="3472143" cy="1443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69"/>
              </a:lnSpc>
            </a:pPr>
            <a:r>
              <a:rPr lang="en-US" sz="2049" b="1" spc="2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Next.js Progressive Web App </a:t>
            </a:r>
            <a:r>
              <a:rPr lang="en-US" sz="2049" spc="2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Lightweight front end that works on any device. </a:t>
            </a:r>
          </a:p>
          <a:p>
            <a:pPr marL="0" lvl="0" indent="0" algn="l">
              <a:lnSpc>
                <a:spcPts val="2869"/>
              </a:lnSpc>
            </a:pPr>
            <a:r>
              <a:rPr lang="en-US" sz="2049" spc="2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Nothing to install.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0" y="6179163"/>
            <a:ext cx="3438731" cy="1805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69"/>
              </a:lnSpc>
            </a:pPr>
            <a:r>
              <a:rPr lang="en-US" sz="2049" b="1" spc="2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On-device capture</a:t>
            </a:r>
            <a:r>
              <a:rPr lang="en-US" sz="2049" spc="2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 Screenshots, receipts, CSV statements. OCR runs in the browser, zero AI tokens. Six languages, multi-currency.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90560" y="6164953"/>
            <a:ext cx="3731177" cy="1805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69"/>
              </a:lnSpc>
            </a:pPr>
            <a:r>
              <a:rPr lang="en-US" sz="2049" b="1" spc="2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PocketBase knowledge graph </a:t>
            </a:r>
            <a:r>
              <a:rPr lang="en-US" sz="2049" spc="2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Self-hosted and single-tenant. </a:t>
            </a:r>
          </a:p>
          <a:p>
            <a:pPr marL="0" lvl="0" indent="0" algn="l">
              <a:lnSpc>
                <a:spcPts val="2869"/>
              </a:lnSpc>
            </a:pPr>
            <a:r>
              <a:rPr lang="en-US" sz="2049" spc="2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No analytics SDKs, no data brokers. Credentials encrypted; append-only hash-chained ledger.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77017" y="6164953"/>
            <a:ext cx="4362863" cy="1805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69"/>
              </a:lnSpc>
            </a:pPr>
            <a:r>
              <a:rPr lang="en-US" sz="2049" b="1" spc="2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Switchable AI </a:t>
            </a:r>
          </a:p>
          <a:p>
            <a:pPr marL="0" lvl="0" indent="0" algn="l">
              <a:lnSpc>
                <a:spcPts val="2869"/>
              </a:lnSpc>
            </a:pPr>
            <a:r>
              <a:rPr lang="en-US" sz="2049" spc="2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Gemini Flash, Groq, or local Ollama — and any model it hosts, including DeepSeek and Qwen. Cost tracked per call. No vendor lock-in.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1980" y="5774633"/>
            <a:ext cx="1883464" cy="365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 spc="2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LAYER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90560" y="5774633"/>
            <a:ext cx="1883464" cy="365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 spc="2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LAYER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0" y="5788843"/>
            <a:ext cx="1883464" cy="365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 spc="2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LAYER 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77017" y="5774633"/>
            <a:ext cx="1883464" cy="365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b="1" spc="2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LAYER 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2844" y="9340399"/>
            <a:ext cx="2945600" cy="27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03"/>
              </a:lnSpc>
              <a:spcBef>
                <a:spcPct val="0"/>
              </a:spcBef>
            </a:pPr>
            <a:r>
              <a:rPr lang="en-US" sz="1573" spc="15">
                <a:solidFill>
                  <a:srgbClr val="F5F5F5"/>
                </a:solidFill>
                <a:latin typeface="Neue Montreal"/>
                <a:ea typeface="Neue Montreal"/>
                <a:cs typeface="Neue Montreal"/>
                <a:sym typeface="Neue Montreal"/>
              </a:rPr>
              <a:t>honeymoney.app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5083" y="1458746"/>
            <a:ext cx="16377834" cy="123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43"/>
              </a:lnSpc>
            </a:pPr>
            <a:r>
              <a:rPr lang="en-US" sz="8993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Architecture &amp; AI-Support</a:t>
            </a:r>
          </a:p>
        </p:txBody>
      </p:sp>
      <p:sp>
        <p:nvSpPr>
          <p:cNvPr id="21" name="Freeform 21"/>
          <p:cNvSpPr/>
          <p:nvPr/>
        </p:nvSpPr>
        <p:spPr>
          <a:xfrm>
            <a:off x="801262" y="482100"/>
            <a:ext cx="623853" cy="607767"/>
          </a:xfrm>
          <a:custGeom>
            <a:avLst/>
            <a:gdLst/>
            <a:ahLst/>
            <a:cxnLst/>
            <a:rect l="l" t="t" r="r" b="b"/>
            <a:pathLst>
              <a:path w="623853" h="607767">
                <a:moveTo>
                  <a:pt x="0" y="0"/>
                </a:moveTo>
                <a:lnTo>
                  <a:pt x="623853" y="0"/>
                </a:lnTo>
                <a:lnTo>
                  <a:pt x="623853" y="607767"/>
                </a:lnTo>
                <a:lnTo>
                  <a:pt x="0" y="6077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8062" b="-4342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942844" y="8929230"/>
            <a:ext cx="10068268" cy="3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2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Cost-free AI calls within free-tier limits to start, e.g. Google's $300 credit.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78117" y="8203295"/>
            <a:ext cx="11442964" cy="687835"/>
            <a:chOff x="0" y="0"/>
            <a:chExt cx="3013785" cy="18115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013785" cy="181158"/>
            </a:xfrm>
            <a:custGeom>
              <a:avLst/>
              <a:gdLst/>
              <a:ahLst/>
              <a:cxnLst/>
              <a:rect l="l" t="t" r="r" b="b"/>
              <a:pathLst>
                <a:path w="3013785" h="181158">
                  <a:moveTo>
                    <a:pt x="33828" y="0"/>
                  </a:moveTo>
                  <a:lnTo>
                    <a:pt x="2979956" y="0"/>
                  </a:lnTo>
                  <a:cubicBezTo>
                    <a:pt x="2998639" y="0"/>
                    <a:pt x="3013785" y="15145"/>
                    <a:pt x="3013785" y="33828"/>
                  </a:cubicBezTo>
                  <a:lnTo>
                    <a:pt x="3013785" y="147330"/>
                  </a:lnTo>
                  <a:cubicBezTo>
                    <a:pt x="3013785" y="156302"/>
                    <a:pt x="3010221" y="164906"/>
                    <a:pt x="3003877" y="171250"/>
                  </a:cubicBezTo>
                  <a:cubicBezTo>
                    <a:pt x="2997533" y="177594"/>
                    <a:pt x="2988928" y="181158"/>
                    <a:pt x="2979956" y="181158"/>
                  </a:cubicBezTo>
                  <a:lnTo>
                    <a:pt x="33828" y="181158"/>
                  </a:lnTo>
                  <a:cubicBezTo>
                    <a:pt x="24856" y="181158"/>
                    <a:pt x="16252" y="177594"/>
                    <a:pt x="9908" y="171250"/>
                  </a:cubicBezTo>
                  <a:cubicBezTo>
                    <a:pt x="3564" y="164906"/>
                    <a:pt x="0" y="156302"/>
                    <a:pt x="0" y="147330"/>
                  </a:cubicBezTo>
                  <a:lnTo>
                    <a:pt x="0" y="33828"/>
                  </a:lnTo>
                  <a:cubicBezTo>
                    <a:pt x="0" y="24856"/>
                    <a:pt x="3564" y="16252"/>
                    <a:pt x="9908" y="9908"/>
                  </a:cubicBezTo>
                  <a:cubicBezTo>
                    <a:pt x="16252" y="3564"/>
                    <a:pt x="24856" y="0"/>
                    <a:pt x="3382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013785" cy="2192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34557" y="8269600"/>
            <a:ext cx="16018886" cy="44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600" b="1" spc="26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 user-friendly personal-finance app, built on a household knowledge graph.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0" y="2634060"/>
            <a:ext cx="14414286" cy="33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spcBef>
                <a:spcPct val="0"/>
              </a:spcBef>
            </a:pPr>
            <a:r>
              <a:rPr lang="en-US" sz="1998" spc="239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A USER-FRIENDLY PERSONAL-FINANCE APP, BUILT ON A HOUSEHOLD KNOWLEDGE GRAPH.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94055"/>
            <a:ext cx="18288000" cy="2948151"/>
          </a:xfrm>
          <a:custGeom>
            <a:avLst/>
            <a:gdLst/>
            <a:ahLst/>
            <a:cxnLst/>
            <a:rect l="l" t="t" r="r" b="b"/>
            <a:pathLst>
              <a:path w="18288000" h="2948151">
                <a:moveTo>
                  <a:pt x="0" y="0"/>
                </a:moveTo>
                <a:lnTo>
                  <a:pt x="18288000" y="0"/>
                </a:lnTo>
                <a:lnTo>
                  <a:pt x="18288000" y="2948152"/>
                </a:lnTo>
                <a:lnTo>
                  <a:pt x="0" y="2948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5885" b="-2073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698626" y="472575"/>
            <a:ext cx="641254" cy="484209"/>
            <a:chOff x="0" y="0"/>
            <a:chExt cx="168890" cy="1275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890" cy="127528"/>
            </a:xfrm>
            <a:custGeom>
              <a:avLst/>
              <a:gdLst/>
              <a:ahLst/>
              <a:cxnLst/>
              <a:rect l="l" t="t" r="r" b="b"/>
              <a:pathLst>
                <a:path w="168890" h="127528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FF751F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6867220" y="593606"/>
            <a:ext cx="304067" cy="242148"/>
          </a:xfrm>
          <a:custGeom>
            <a:avLst/>
            <a:gdLst/>
            <a:ahLst/>
            <a:cxnLst/>
            <a:rect l="l" t="t" r="r" b="b"/>
            <a:pathLst>
              <a:path w="304067" h="242148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096376" y="9340399"/>
            <a:ext cx="873698" cy="2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8"/>
              </a:lnSpc>
              <a:spcBef>
                <a:spcPct val="0"/>
              </a:spcBef>
            </a:pPr>
            <a:r>
              <a:rPr lang="en-US" sz="1598" b="1" spc="15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882414" y="9340399"/>
            <a:ext cx="45050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07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5083" y="1458746"/>
            <a:ext cx="16377834" cy="123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43"/>
              </a:lnSpc>
            </a:pPr>
            <a:r>
              <a:rPr lang="en-US" sz="8993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Market &amp; Progress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2844" y="4845418"/>
            <a:ext cx="17173488" cy="73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60"/>
              </a:lnSpc>
              <a:spcBef>
                <a:spcPct val="0"/>
              </a:spcBef>
            </a:pPr>
            <a:r>
              <a:rPr lang="en-US" sz="2600" spc="2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8.2 m</a:t>
            </a:r>
            <a:r>
              <a:rPr lang="en-US" sz="2600" u="none" strike="noStrike" spc="2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illion Malaysian households (DOSM, 2024), averaging 1.8 income earners each, so shared-versus-private money is the norm, not a niche. We start with: urban dual-income couples, where the friction is daily.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5083" y="4294607"/>
            <a:ext cx="525780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spc="30">
                <a:solidFill>
                  <a:srgbClr val="FF751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Market Size: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5083" y="6211839"/>
            <a:ext cx="17161249" cy="73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60"/>
              </a:lnSpc>
              <a:spcBef>
                <a:spcPct val="0"/>
              </a:spcBef>
            </a:pPr>
            <a:r>
              <a:rPr lang="en-US" sz="2600" u="none" strike="noStrike" spc="2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Existing tools sit at one of two extremes: bank apps that see only their own bank, or spreadsheets that see everything but demand discipline nobody sustains.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5083" y="5592714"/>
            <a:ext cx="525780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spc="30">
                <a:solidFill>
                  <a:srgbClr val="FF751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Gap: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5083" y="7610475"/>
            <a:ext cx="16913717" cy="375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60"/>
              </a:lnSpc>
              <a:spcBef>
                <a:spcPct val="0"/>
              </a:spcBef>
            </a:pPr>
            <a:r>
              <a:rPr lang="en-US" sz="2600" u="none" strike="noStrike" spc="2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The daily-use of every wallet, with a couple-aware privacy model that a bank-owned app structurally cannot offer.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5083" y="6991350"/>
            <a:ext cx="525780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 spc="30">
                <a:solidFill>
                  <a:srgbClr val="FF751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Where We Sit: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8743950"/>
            <a:ext cx="16471248" cy="375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60"/>
              </a:lnSpc>
              <a:spcBef>
                <a:spcPct val="0"/>
              </a:spcBef>
            </a:pPr>
            <a:r>
              <a:rPr lang="en-US" sz="2600" spc="2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A real, usable ho</a:t>
            </a:r>
            <a:r>
              <a:rPr lang="en-US" sz="2600" u="none" strike="noStrike" spc="26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neymoney.app, not a prototype, AI-supported, privacy notice, consent controls, live and working.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5083" y="8096250"/>
            <a:ext cx="5257800" cy="5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751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Progress: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2844" y="9340399"/>
            <a:ext cx="2945600" cy="2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8"/>
              </a:lnSpc>
              <a:spcBef>
                <a:spcPct val="0"/>
              </a:spcBef>
            </a:pPr>
            <a:r>
              <a:rPr lang="en-US" sz="1598" spc="15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honeymoney.app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47027" y="571798"/>
            <a:ext cx="7087065" cy="33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b="1" spc="19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HoneyMoney</a:t>
            </a:r>
          </a:p>
        </p:txBody>
      </p:sp>
      <p:sp>
        <p:nvSpPr>
          <p:cNvPr id="20" name="Freeform 20"/>
          <p:cNvSpPr/>
          <p:nvPr/>
        </p:nvSpPr>
        <p:spPr>
          <a:xfrm>
            <a:off x="801262" y="472575"/>
            <a:ext cx="683572" cy="647595"/>
          </a:xfrm>
          <a:custGeom>
            <a:avLst/>
            <a:gdLst/>
            <a:ahLst/>
            <a:cxnLst/>
            <a:rect l="l" t="t" r="r" b="b"/>
            <a:pathLst>
              <a:path w="683572" h="647595">
                <a:moveTo>
                  <a:pt x="0" y="0"/>
                </a:moveTo>
                <a:lnTo>
                  <a:pt x="683572" y="0"/>
                </a:lnTo>
                <a:lnTo>
                  <a:pt x="683572" y="647595"/>
                </a:lnTo>
                <a:lnTo>
                  <a:pt x="0" y="6475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94055"/>
            <a:ext cx="18472587" cy="2953680"/>
          </a:xfrm>
          <a:custGeom>
            <a:avLst/>
            <a:gdLst/>
            <a:ahLst/>
            <a:cxnLst/>
            <a:rect l="l" t="t" r="r" b="b"/>
            <a:pathLst>
              <a:path w="18472587" h="2953680">
                <a:moveTo>
                  <a:pt x="0" y="0"/>
                </a:moveTo>
                <a:lnTo>
                  <a:pt x="18472587" y="0"/>
                </a:lnTo>
                <a:lnTo>
                  <a:pt x="18472587" y="2953680"/>
                </a:lnTo>
                <a:lnTo>
                  <a:pt x="0" y="2953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4528" b="-11257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01262" y="4414435"/>
            <a:ext cx="8165185" cy="4787553"/>
            <a:chOff x="0" y="0"/>
            <a:chExt cx="2150501" cy="12609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50501" cy="1260919"/>
            </a:xfrm>
            <a:custGeom>
              <a:avLst/>
              <a:gdLst/>
              <a:ahLst/>
              <a:cxnLst/>
              <a:rect l="l" t="t" r="r" b="b"/>
              <a:pathLst>
                <a:path w="2150501" h="1260919">
                  <a:moveTo>
                    <a:pt x="47408" y="0"/>
                  </a:moveTo>
                  <a:lnTo>
                    <a:pt x="2103093" y="0"/>
                  </a:lnTo>
                  <a:cubicBezTo>
                    <a:pt x="2129276" y="0"/>
                    <a:pt x="2150501" y="21225"/>
                    <a:pt x="2150501" y="47408"/>
                  </a:cubicBezTo>
                  <a:lnTo>
                    <a:pt x="2150501" y="1213511"/>
                  </a:lnTo>
                  <a:cubicBezTo>
                    <a:pt x="2150501" y="1239694"/>
                    <a:pt x="2129276" y="1260919"/>
                    <a:pt x="2103093" y="1260919"/>
                  </a:cubicBezTo>
                  <a:lnTo>
                    <a:pt x="47408" y="1260919"/>
                  </a:lnTo>
                  <a:cubicBezTo>
                    <a:pt x="21225" y="1260919"/>
                    <a:pt x="0" y="1239694"/>
                    <a:pt x="0" y="1213511"/>
                  </a:cubicBezTo>
                  <a:lnTo>
                    <a:pt x="0" y="47408"/>
                  </a:lnTo>
                  <a:cubicBezTo>
                    <a:pt x="0" y="21225"/>
                    <a:pt x="21225" y="0"/>
                    <a:pt x="47408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50501" cy="1299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48831" y="4496792"/>
            <a:ext cx="8343130" cy="4787553"/>
            <a:chOff x="0" y="0"/>
            <a:chExt cx="2197367" cy="12609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7367" cy="1260919"/>
            </a:xfrm>
            <a:custGeom>
              <a:avLst/>
              <a:gdLst/>
              <a:ahLst/>
              <a:cxnLst/>
              <a:rect l="l" t="t" r="r" b="b"/>
              <a:pathLst>
                <a:path w="2197367" h="1260919">
                  <a:moveTo>
                    <a:pt x="46397" y="0"/>
                  </a:moveTo>
                  <a:lnTo>
                    <a:pt x="2150970" y="0"/>
                  </a:lnTo>
                  <a:cubicBezTo>
                    <a:pt x="2163276" y="0"/>
                    <a:pt x="2175077" y="4888"/>
                    <a:pt x="2183778" y="13589"/>
                  </a:cubicBezTo>
                  <a:cubicBezTo>
                    <a:pt x="2192479" y="22290"/>
                    <a:pt x="2197367" y="34092"/>
                    <a:pt x="2197367" y="46397"/>
                  </a:cubicBezTo>
                  <a:lnTo>
                    <a:pt x="2197367" y="1214522"/>
                  </a:lnTo>
                  <a:cubicBezTo>
                    <a:pt x="2197367" y="1240147"/>
                    <a:pt x="2176595" y="1260919"/>
                    <a:pt x="2150970" y="1260919"/>
                  </a:cubicBezTo>
                  <a:lnTo>
                    <a:pt x="46397" y="1260919"/>
                  </a:lnTo>
                  <a:cubicBezTo>
                    <a:pt x="34092" y="1260919"/>
                    <a:pt x="22290" y="1256031"/>
                    <a:pt x="13589" y="1247330"/>
                  </a:cubicBezTo>
                  <a:cubicBezTo>
                    <a:pt x="4888" y="1238629"/>
                    <a:pt x="0" y="1226828"/>
                    <a:pt x="0" y="1214522"/>
                  </a:cubicBezTo>
                  <a:lnTo>
                    <a:pt x="0" y="46397"/>
                  </a:lnTo>
                  <a:cubicBezTo>
                    <a:pt x="0" y="34092"/>
                    <a:pt x="4888" y="22290"/>
                    <a:pt x="13589" y="13589"/>
                  </a:cubicBezTo>
                  <a:cubicBezTo>
                    <a:pt x="22290" y="4888"/>
                    <a:pt x="34092" y="0"/>
                    <a:pt x="46397" y="0"/>
                  </a:cubicBezTo>
                  <a:close/>
                </a:path>
              </a:pathLst>
            </a:custGeom>
            <a:solidFill>
              <a:srgbClr val="FA8F0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97367" cy="1299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698626" y="472575"/>
            <a:ext cx="641254" cy="484209"/>
            <a:chOff x="0" y="0"/>
            <a:chExt cx="168890" cy="1275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8890" cy="127528"/>
            </a:xfrm>
            <a:custGeom>
              <a:avLst/>
              <a:gdLst/>
              <a:ahLst/>
              <a:cxnLst/>
              <a:rect l="l" t="t" r="r" b="b"/>
              <a:pathLst>
                <a:path w="168890" h="127528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FF751F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flipH="1">
            <a:off x="16867220" y="593606"/>
            <a:ext cx="304067" cy="242148"/>
          </a:xfrm>
          <a:custGeom>
            <a:avLst/>
            <a:gdLst/>
            <a:ahLst/>
            <a:cxnLst/>
            <a:rect l="l" t="t" r="r" b="b"/>
            <a:pathLst>
              <a:path w="304067" h="242148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147566" y="5771407"/>
            <a:ext cx="4397900" cy="537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77"/>
              </a:lnSpc>
            </a:pPr>
            <a:r>
              <a:rPr lang="en-US" sz="3198" b="1" spc="3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Strategy &amp; Growth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66871" y="5771407"/>
            <a:ext cx="4397900" cy="537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77"/>
              </a:lnSpc>
            </a:pPr>
            <a:r>
              <a:rPr lang="en-US" sz="3198" b="1" spc="3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Revenue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28700" y="4376335"/>
            <a:ext cx="1667177" cy="1524000"/>
          </a:xfrm>
          <a:custGeom>
            <a:avLst/>
            <a:gdLst/>
            <a:ahLst/>
            <a:cxnLst/>
            <a:rect l="l" t="t" r="r" b="b"/>
            <a:pathLst>
              <a:path w="1667177" h="1524000">
                <a:moveTo>
                  <a:pt x="0" y="0"/>
                </a:moveTo>
                <a:lnTo>
                  <a:pt x="1667177" y="0"/>
                </a:lnTo>
                <a:lnTo>
                  <a:pt x="1667177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84" t="-7086" r="-2184" b="-7086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591768" y="4376335"/>
            <a:ext cx="1667177" cy="1524000"/>
          </a:xfrm>
          <a:custGeom>
            <a:avLst/>
            <a:gdLst/>
            <a:ahLst/>
            <a:cxnLst/>
            <a:rect l="l" t="t" r="r" b="b"/>
            <a:pathLst>
              <a:path w="1667177" h="1524000">
                <a:moveTo>
                  <a:pt x="0" y="0"/>
                </a:moveTo>
                <a:lnTo>
                  <a:pt x="1667177" y="0"/>
                </a:lnTo>
                <a:lnTo>
                  <a:pt x="1667177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84" t="-7086" r="-2184" b="-7086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33450" y="1471591"/>
            <a:ext cx="10589798" cy="123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43"/>
              </a:lnSpc>
            </a:pPr>
            <a:r>
              <a:rPr lang="en-US" sz="8993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Business Model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7566" y="6273722"/>
            <a:ext cx="7610814" cy="207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</a:pPr>
            <a:r>
              <a:rPr lang="en-US" sz="2999" b="1" spc="29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Free for households, forever, 3-bucket tracking, Money Health Score, forecasts. </a:t>
            </a:r>
          </a:p>
          <a:p>
            <a:pPr marL="0" lvl="0" indent="0" algn="l">
              <a:lnSpc>
                <a:spcPts val="4199"/>
              </a:lnSpc>
            </a:pPr>
            <a:r>
              <a:rPr lang="en-US" sz="2999" b="1" spc="29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This is the acquisition engine, not a trial, a user friendly personal budgeting tool.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66871" y="6273722"/>
            <a:ext cx="7892605" cy="260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</a:pPr>
            <a:r>
              <a:rPr lang="en-US" sz="2999" b="1" spc="29">
                <a:solidFill>
                  <a:srgbClr val="FFFFFF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Budgeting goals and insights, as a service. Employers sponsor seats like health cover; households never pay, premium optional. Employers see trends, never records. Sponsorship and opt-in licensed referrals later.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096376" y="9340399"/>
            <a:ext cx="873698" cy="2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8"/>
              </a:lnSpc>
              <a:spcBef>
                <a:spcPct val="0"/>
              </a:spcBef>
            </a:pPr>
            <a:r>
              <a:rPr lang="en-US" sz="1598" b="1" spc="15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882414" y="9340399"/>
            <a:ext cx="45050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08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2844" y="9340399"/>
            <a:ext cx="2945600" cy="2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8"/>
              </a:lnSpc>
              <a:spcBef>
                <a:spcPct val="0"/>
              </a:spcBef>
            </a:pPr>
            <a:r>
              <a:rPr lang="en-US" sz="1598" spc="15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honeymoney.app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47027" y="571798"/>
            <a:ext cx="7087065" cy="33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b="1" spc="19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HoneyMoney</a:t>
            </a:r>
          </a:p>
        </p:txBody>
      </p:sp>
      <p:sp>
        <p:nvSpPr>
          <p:cNvPr id="24" name="Freeform 24"/>
          <p:cNvSpPr/>
          <p:nvPr/>
        </p:nvSpPr>
        <p:spPr>
          <a:xfrm>
            <a:off x="801262" y="472575"/>
            <a:ext cx="683572" cy="647595"/>
          </a:xfrm>
          <a:custGeom>
            <a:avLst/>
            <a:gdLst/>
            <a:ahLst/>
            <a:cxnLst/>
            <a:rect l="l" t="t" r="r" b="b"/>
            <a:pathLst>
              <a:path w="683572" h="647595">
                <a:moveTo>
                  <a:pt x="0" y="0"/>
                </a:moveTo>
                <a:lnTo>
                  <a:pt x="683572" y="0"/>
                </a:lnTo>
                <a:lnTo>
                  <a:pt x="683572" y="647595"/>
                </a:lnTo>
                <a:lnTo>
                  <a:pt x="0" y="6475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94055"/>
            <a:ext cx="18288000" cy="2953680"/>
          </a:xfrm>
          <a:custGeom>
            <a:avLst/>
            <a:gdLst/>
            <a:ahLst/>
            <a:cxnLst/>
            <a:rect l="l" t="t" r="r" b="b"/>
            <a:pathLst>
              <a:path w="18288000" h="2953680">
                <a:moveTo>
                  <a:pt x="0" y="0"/>
                </a:moveTo>
                <a:lnTo>
                  <a:pt x="18288000" y="0"/>
                </a:lnTo>
                <a:lnTo>
                  <a:pt x="18288000" y="2953680"/>
                </a:lnTo>
                <a:lnTo>
                  <a:pt x="0" y="2953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4637" b="-503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698626" y="472575"/>
            <a:ext cx="641254" cy="484209"/>
            <a:chOff x="0" y="0"/>
            <a:chExt cx="168890" cy="1275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890" cy="127528"/>
            </a:xfrm>
            <a:custGeom>
              <a:avLst/>
              <a:gdLst/>
              <a:ahLst/>
              <a:cxnLst/>
              <a:rect l="l" t="t" r="r" b="b"/>
              <a:pathLst>
                <a:path w="168890" h="127528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FF751F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6867220" y="593606"/>
            <a:ext cx="304067" cy="242148"/>
          </a:xfrm>
          <a:custGeom>
            <a:avLst/>
            <a:gdLst/>
            <a:ahLst/>
            <a:cxnLst/>
            <a:rect l="l" t="t" r="r" b="b"/>
            <a:pathLst>
              <a:path w="304067" h="242148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2049068" y="4385860"/>
            <a:ext cx="5279194" cy="2062785"/>
            <a:chOff x="0" y="0"/>
            <a:chExt cx="1390405" cy="5432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0405" cy="543285"/>
            </a:xfrm>
            <a:custGeom>
              <a:avLst/>
              <a:gdLst/>
              <a:ahLst/>
              <a:cxnLst/>
              <a:rect l="l" t="t" r="r" b="b"/>
              <a:pathLst>
                <a:path w="1390405" h="543285">
                  <a:moveTo>
                    <a:pt x="73325" y="0"/>
                  </a:moveTo>
                  <a:lnTo>
                    <a:pt x="1317080" y="0"/>
                  </a:lnTo>
                  <a:cubicBezTo>
                    <a:pt x="1357576" y="0"/>
                    <a:pt x="1390405" y="32829"/>
                    <a:pt x="1390405" y="73325"/>
                  </a:cubicBezTo>
                  <a:lnTo>
                    <a:pt x="1390405" y="469960"/>
                  </a:lnTo>
                  <a:cubicBezTo>
                    <a:pt x="1390405" y="489407"/>
                    <a:pt x="1382680" y="508058"/>
                    <a:pt x="1368929" y="521809"/>
                  </a:cubicBezTo>
                  <a:cubicBezTo>
                    <a:pt x="1355177" y="535560"/>
                    <a:pt x="1336527" y="543285"/>
                    <a:pt x="1317080" y="543285"/>
                  </a:cubicBezTo>
                  <a:lnTo>
                    <a:pt x="73325" y="543285"/>
                  </a:lnTo>
                  <a:cubicBezTo>
                    <a:pt x="53878" y="543285"/>
                    <a:pt x="35227" y="535560"/>
                    <a:pt x="21476" y="521809"/>
                  </a:cubicBezTo>
                  <a:cubicBezTo>
                    <a:pt x="7725" y="508058"/>
                    <a:pt x="0" y="489407"/>
                    <a:pt x="0" y="469960"/>
                  </a:cubicBezTo>
                  <a:lnTo>
                    <a:pt x="0" y="73325"/>
                  </a:lnTo>
                  <a:cubicBezTo>
                    <a:pt x="0" y="53878"/>
                    <a:pt x="7725" y="35227"/>
                    <a:pt x="21476" y="21476"/>
                  </a:cubicBezTo>
                  <a:cubicBezTo>
                    <a:pt x="35227" y="7725"/>
                    <a:pt x="53878" y="0"/>
                    <a:pt x="73325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FF751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90405" cy="58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93649" y="4385860"/>
            <a:ext cx="5279194" cy="2062785"/>
            <a:chOff x="0" y="0"/>
            <a:chExt cx="1390405" cy="54328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90405" cy="543285"/>
            </a:xfrm>
            <a:custGeom>
              <a:avLst/>
              <a:gdLst/>
              <a:ahLst/>
              <a:cxnLst/>
              <a:rect l="l" t="t" r="r" b="b"/>
              <a:pathLst>
                <a:path w="1390405" h="543285">
                  <a:moveTo>
                    <a:pt x="73325" y="0"/>
                  </a:moveTo>
                  <a:lnTo>
                    <a:pt x="1317080" y="0"/>
                  </a:lnTo>
                  <a:cubicBezTo>
                    <a:pt x="1357576" y="0"/>
                    <a:pt x="1390405" y="32829"/>
                    <a:pt x="1390405" y="73325"/>
                  </a:cubicBezTo>
                  <a:lnTo>
                    <a:pt x="1390405" y="469960"/>
                  </a:lnTo>
                  <a:cubicBezTo>
                    <a:pt x="1390405" y="489407"/>
                    <a:pt x="1382680" y="508058"/>
                    <a:pt x="1368929" y="521809"/>
                  </a:cubicBezTo>
                  <a:cubicBezTo>
                    <a:pt x="1355177" y="535560"/>
                    <a:pt x="1336527" y="543285"/>
                    <a:pt x="1317080" y="543285"/>
                  </a:cubicBezTo>
                  <a:lnTo>
                    <a:pt x="73325" y="543285"/>
                  </a:lnTo>
                  <a:cubicBezTo>
                    <a:pt x="53878" y="543285"/>
                    <a:pt x="35227" y="535560"/>
                    <a:pt x="21476" y="521809"/>
                  </a:cubicBezTo>
                  <a:cubicBezTo>
                    <a:pt x="7725" y="508058"/>
                    <a:pt x="0" y="489407"/>
                    <a:pt x="0" y="469960"/>
                  </a:cubicBezTo>
                  <a:lnTo>
                    <a:pt x="0" y="73325"/>
                  </a:lnTo>
                  <a:cubicBezTo>
                    <a:pt x="0" y="53878"/>
                    <a:pt x="7725" y="35227"/>
                    <a:pt x="21476" y="21476"/>
                  </a:cubicBezTo>
                  <a:cubicBezTo>
                    <a:pt x="35227" y="7725"/>
                    <a:pt x="53878" y="0"/>
                    <a:pt x="73325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FF751F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390405" cy="58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5083" y="4385860"/>
            <a:ext cx="5279194" cy="2062785"/>
            <a:chOff x="0" y="0"/>
            <a:chExt cx="1390405" cy="54328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90405" cy="543285"/>
            </a:xfrm>
            <a:custGeom>
              <a:avLst/>
              <a:gdLst/>
              <a:ahLst/>
              <a:cxnLst/>
              <a:rect l="l" t="t" r="r" b="b"/>
              <a:pathLst>
                <a:path w="1390405" h="543285">
                  <a:moveTo>
                    <a:pt x="73325" y="0"/>
                  </a:moveTo>
                  <a:lnTo>
                    <a:pt x="1317080" y="0"/>
                  </a:lnTo>
                  <a:cubicBezTo>
                    <a:pt x="1357576" y="0"/>
                    <a:pt x="1390405" y="32829"/>
                    <a:pt x="1390405" y="73325"/>
                  </a:cubicBezTo>
                  <a:lnTo>
                    <a:pt x="1390405" y="469960"/>
                  </a:lnTo>
                  <a:cubicBezTo>
                    <a:pt x="1390405" y="489407"/>
                    <a:pt x="1382680" y="508058"/>
                    <a:pt x="1368929" y="521809"/>
                  </a:cubicBezTo>
                  <a:cubicBezTo>
                    <a:pt x="1355177" y="535560"/>
                    <a:pt x="1336527" y="543285"/>
                    <a:pt x="1317080" y="543285"/>
                  </a:cubicBezTo>
                  <a:lnTo>
                    <a:pt x="73325" y="543285"/>
                  </a:lnTo>
                  <a:cubicBezTo>
                    <a:pt x="53878" y="543285"/>
                    <a:pt x="35227" y="535560"/>
                    <a:pt x="21476" y="521809"/>
                  </a:cubicBezTo>
                  <a:cubicBezTo>
                    <a:pt x="7725" y="508058"/>
                    <a:pt x="0" y="489407"/>
                    <a:pt x="0" y="469960"/>
                  </a:cubicBezTo>
                  <a:lnTo>
                    <a:pt x="0" y="73325"/>
                  </a:lnTo>
                  <a:cubicBezTo>
                    <a:pt x="0" y="53878"/>
                    <a:pt x="7725" y="35227"/>
                    <a:pt x="21476" y="21476"/>
                  </a:cubicBezTo>
                  <a:cubicBezTo>
                    <a:pt x="35227" y="7725"/>
                    <a:pt x="53878" y="0"/>
                    <a:pt x="73325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FF751F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390405" cy="581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229076" y="4571324"/>
            <a:ext cx="2190750" cy="273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751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Phase 1 (month 0-12 )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3155" y="4481472"/>
            <a:ext cx="1379443" cy="40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D2D2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Pilot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3048" y="5028702"/>
            <a:ext cx="4646156" cy="1181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1</a:t>
            </a:r>
            <a:r>
              <a:rPr lang="en-US" sz="2599" u="none" strike="noStrike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,500 households soft-launch, target 500 seats</a:t>
            </a:r>
          </a:p>
          <a:p>
            <a:pPr marL="561336" lvl="1" indent="-280668" algn="l">
              <a:lnSpc>
                <a:spcPts val="3119"/>
              </a:lnSpc>
              <a:buFont typeface="Arial"/>
              <a:buChar char="•"/>
            </a:pPr>
            <a:r>
              <a:rPr lang="en-US" sz="2599" u="none" strike="noStrike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Early retention KPIs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20095" y="4571324"/>
            <a:ext cx="2447811" cy="273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751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Phase 2 (month 12-24 mth)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17864" y="4481472"/>
            <a:ext cx="1119061" cy="40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D2D2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Scale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32114" y="5028702"/>
            <a:ext cx="4549218" cy="1181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6" lvl="1" indent="-280668" algn="l">
              <a:lnSpc>
                <a:spcPts val="3119"/>
              </a:lnSpc>
              <a:buFont typeface="Arial"/>
              <a:buChar char="•"/>
            </a:pPr>
            <a:r>
              <a:rPr lang="en-US" sz="2599" u="none" strike="noStrike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National rollout, 15k household, target 8k seats</a:t>
            </a:r>
          </a:p>
          <a:p>
            <a:pPr marL="561336" lvl="1" indent="-280668" algn="l">
              <a:lnSpc>
                <a:spcPts val="3119"/>
              </a:lnSpc>
              <a:buFont typeface="Arial"/>
              <a:buChar char="•"/>
            </a:pPr>
            <a:r>
              <a:rPr lang="en-US" sz="2599" u="none" strike="noStrike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Revenue from premium tier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849293" y="4571324"/>
            <a:ext cx="2366639" cy="273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751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Phase 3 (month 24-36)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15309" y="4481472"/>
            <a:ext cx="1517293" cy="40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2D2D2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Expand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477693" y="5028702"/>
            <a:ext cx="4576450" cy="1514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0929" lvl="1" indent="-270464" algn="l">
              <a:lnSpc>
                <a:spcPts val="3006"/>
              </a:lnSpc>
              <a:buFont typeface="Arial"/>
              <a:buChar char="•"/>
            </a:pPr>
            <a:r>
              <a:rPr lang="en-US" sz="2505" u="none" strike="noStrike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ASEAN B2B market, 45k household, target 30k seats</a:t>
            </a:r>
          </a:p>
          <a:p>
            <a:pPr marL="540929" lvl="1" indent="-270464" algn="l">
              <a:lnSpc>
                <a:spcPts val="3006"/>
              </a:lnSpc>
              <a:buFont typeface="Arial"/>
              <a:buChar char="•"/>
            </a:pPr>
            <a:r>
              <a:rPr lang="en-US" sz="2505" u="none" strike="noStrike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High-value fintech</a:t>
            </a:r>
          </a:p>
          <a:p>
            <a:pPr algn="l">
              <a:lnSpc>
                <a:spcPts val="3006"/>
              </a:lnSpc>
            </a:pPr>
            <a:endParaRPr lang="en-US" sz="2505" u="none" strike="noStrike">
              <a:solidFill>
                <a:srgbClr val="555555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43048" y="6531651"/>
            <a:ext cx="3810000" cy="448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2D2D2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Th</a:t>
            </a:r>
            <a:r>
              <a:rPr lang="en-US" sz="2600" b="1" u="none" strike="noStrike">
                <a:solidFill>
                  <a:srgbClr val="2D2D2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 Ask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3048" y="7018011"/>
            <a:ext cx="16196832" cy="1962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</a:pPr>
            <a:r>
              <a:rPr lang="en-US" sz="2600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We are r</a:t>
            </a:r>
            <a:r>
              <a:rPr lang="en-US" sz="2600" u="none" strike="noStrike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aising RM150k to fund 18 months of runway, taking us from a live product with targets below:</a:t>
            </a:r>
          </a:p>
          <a:p>
            <a:pPr marL="0" lvl="0" indent="0" algn="l">
              <a:lnSpc>
                <a:spcPts val="3120"/>
              </a:lnSpc>
            </a:pPr>
            <a:r>
              <a:rPr lang="en-US" sz="2600" u="none" strike="noStrike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500 seats x RM48 = RM24k (1st Yr); </a:t>
            </a:r>
          </a:p>
          <a:p>
            <a:pPr marL="0" lvl="0" indent="0" algn="l">
              <a:lnSpc>
                <a:spcPts val="3120"/>
              </a:lnSpc>
            </a:pPr>
            <a:r>
              <a:rPr lang="en-US" sz="2600" u="none" strike="noStrike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8,000 seats x RM48 = RM348k (2nd Yr); </a:t>
            </a:r>
          </a:p>
          <a:p>
            <a:pPr marL="0" lvl="0" indent="0" algn="l">
              <a:lnSpc>
                <a:spcPts val="3120"/>
              </a:lnSpc>
            </a:pPr>
            <a:r>
              <a:rPr lang="en-US" sz="2600" u="none" strike="noStrike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30,000 seats x RM48 = RM1.44mil. (3rd Yr)</a:t>
            </a:r>
          </a:p>
          <a:p>
            <a:pPr marL="0" lvl="0" indent="0" algn="l">
              <a:lnSpc>
                <a:spcPts val="3120"/>
              </a:lnSpc>
            </a:pPr>
            <a:r>
              <a:rPr lang="en-US" sz="2600" u="none" strike="noStrike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Use of funds: 60% engineering · 25% Employee · 15% Sdn Bhd Incorporation &amp; Expenses.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878300" y="9344025"/>
            <a:ext cx="457200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09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2844" y="9340399"/>
            <a:ext cx="2945600" cy="2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8"/>
              </a:lnSpc>
              <a:spcBef>
                <a:spcPct val="0"/>
              </a:spcBef>
            </a:pPr>
            <a:r>
              <a:rPr lang="en-US" sz="1598" spc="15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honeymoney.app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5083" y="1458746"/>
            <a:ext cx="16377834" cy="123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43"/>
              </a:lnSpc>
            </a:pPr>
            <a:r>
              <a:rPr lang="en-US" sz="8993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Development Roadmap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096376" y="9340399"/>
            <a:ext cx="873698" cy="2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8"/>
              </a:lnSpc>
              <a:spcBef>
                <a:spcPct val="0"/>
              </a:spcBef>
            </a:pPr>
            <a:r>
              <a:rPr lang="en-US" sz="1598" b="1" spc="15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47027" y="571798"/>
            <a:ext cx="7087065" cy="33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b="1" spc="19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HoneyMoney</a:t>
            </a:r>
          </a:p>
        </p:txBody>
      </p:sp>
      <p:sp>
        <p:nvSpPr>
          <p:cNvPr id="32" name="Freeform 32"/>
          <p:cNvSpPr/>
          <p:nvPr/>
        </p:nvSpPr>
        <p:spPr>
          <a:xfrm>
            <a:off x="801262" y="472575"/>
            <a:ext cx="683572" cy="647595"/>
          </a:xfrm>
          <a:custGeom>
            <a:avLst/>
            <a:gdLst/>
            <a:ahLst/>
            <a:cxnLst/>
            <a:rect l="l" t="t" r="r" b="b"/>
            <a:pathLst>
              <a:path w="683572" h="647595">
                <a:moveTo>
                  <a:pt x="0" y="0"/>
                </a:moveTo>
                <a:lnTo>
                  <a:pt x="683572" y="0"/>
                </a:lnTo>
                <a:lnTo>
                  <a:pt x="683572" y="647595"/>
                </a:lnTo>
                <a:lnTo>
                  <a:pt x="0" y="6475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94055"/>
            <a:ext cx="18288000" cy="2953680"/>
          </a:xfrm>
          <a:custGeom>
            <a:avLst/>
            <a:gdLst/>
            <a:ahLst/>
            <a:cxnLst/>
            <a:rect l="l" t="t" r="r" b="b"/>
            <a:pathLst>
              <a:path w="18288000" h="2953680">
                <a:moveTo>
                  <a:pt x="0" y="0"/>
                </a:moveTo>
                <a:lnTo>
                  <a:pt x="18288000" y="0"/>
                </a:lnTo>
                <a:lnTo>
                  <a:pt x="18288000" y="2953680"/>
                </a:lnTo>
                <a:lnTo>
                  <a:pt x="0" y="2953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4639" b="-50326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698626" y="472575"/>
            <a:ext cx="641254" cy="484209"/>
            <a:chOff x="0" y="0"/>
            <a:chExt cx="168890" cy="1275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890" cy="127528"/>
            </a:xfrm>
            <a:custGeom>
              <a:avLst/>
              <a:gdLst/>
              <a:ahLst/>
              <a:cxnLst/>
              <a:rect l="l" t="t" r="r" b="b"/>
              <a:pathLst>
                <a:path w="168890" h="127528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FF751F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6867220" y="593606"/>
            <a:ext cx="304067" cy="242148"/>
          </a:xfrm>
          <a:custGeom>
            <a:avLst/>
            <a:gdLst/>
            <a:ahLst/>
            <a:cxnLst/>
            <a:rect l="l" t="t" r="r" b="b"/>
            <a:pathLst>
              <a:path w="304067" h="242148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05025" y="4385860"/>
            <a:ext cx="8402988" cy="2321362"/>
            <a:chOff x="0" y="0"/>
            <a:chExt cx="2213133" cy="61138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13133" cy="611388"/>
            </a:xfrm>
            <a:custGeom>
              <a:avLst/>
              <a:gdLst/>
              <a:ahLst/>
              <a:cxnLst/>
              <a:rect l="l" t="t" r="r" b="b"/>
              <a:pathLst>
                <a:path w="2213133" h="611388">
                  <a:moveTo>
                    <a:pt x="46066" y="0"/>
                  </a:moveTo>
                  <a:lnTo>
                    <a:pt x="2167066" y="0"/>
                  </a:lnTo>
                  <a:cubicBezTo>
                    <a:pt x="2179284" y="0"/>
                    <a:pt x="2191001" y="4853"/>
                    <a:pt x="2199640" y="13493"/>
                  </a:cubicBezTo>
                  <a:cubicBezTo>
                    <a:pt x="2208279" y="22132"/>
                    <a:pt x="2213133" y="33849"/>
                    <a:pt x="2213133" y="46066"/>
                  </a:cubicBezTo>
                  <a:lnTo>
                    <a:pt x="2213133" y="565321"/>
                  </a:lnTo>
                  <a:cubicBezTo>
                    <a:pt x="2213133" y="590763"/>
                    <a:pt x="2192508" y="611388"/>
                    <a:pt x="2167066" y="611388"/>
                  </a:cubicBezTo>
                  <a:lnTo>
                    <a:pt x="46066" y="611388"/>
                  </a:lnTo>
                  <a:cubicBezTo>
                    <a:pt x="20625" y="611388"/>
                    <a:pt x="0" y="590763"/>
                    <a:pt x="0" y="565321"/>
                  </a:cubicBezTo>
                  <a:lnTo>
                    <a:pt x="0" y="46066"/>
                  </a:lnTo>
                  <a:cubicBezTo>
                    <a:pt x="0" y="20625"/>
                    <a:pt x="20625" y="0"/>
                    <a:pt x="46066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FF751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213133" cy="649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13097" y="4471585"/>
            <a:ext cx="2640072" cy="40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D2D2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National Agenda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6896" y="4944001"/>
            <a:ext cx="7717046" cy="1571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H</a:t>
            </a:r>
            <a:r>
              <a:rPr lang="en-US" sz="2599" u="none" strike="noStrike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ousehold financial resilience sits inside the MADANI cost-of-living agenda and Bank Negara's financial literacy priorities. A tool for the behaviour those policies ask for, not a substitute for licensed advice.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878300" y="9344025"/>
            <a:ext cx="457200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09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2844" y="9340399"/>
            <a:ext cx="2945600" cy="2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8"/>
              </a:lnSpc>
              <a:spcBef>
                <a:spcPct val="0"/>
              </a:spcBef>
            </a:pPr>
            <a:r>
              <a:rPr lang="en-US" sz="1598" spc="15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honeymoney.app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5083" y="1458746"/>
            <a:ext cx="16377834" cy="123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43"/>
              </a:lnSpc>
            </a:pPr>
            <a:r>
              <a:rPr lang="en-US" sz="8993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Drivers &amp; Impact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096376" y="9340399"/>
            <a:ext cx="873698" cy="2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8"/>
              </a:lnSpc>
              <a:spcBef>
                <a:spcPct val="0"/>
              </a:spcBef>
            </a:pPr>
            <a:r>
              <a:rPr lang="en-US" sz="1598" b="1" spc="15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47027" y="571798"/>
            <a:ext cx="7087065" cy="33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b="1" spc="19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HoneyMoney</a:t>
            </a:r>
          </a:p>
        </p:txBody>
      </p:sp>
      <p:sp>
        <p:nvSpPr>
          <p:cNvPr id="17" name="Freeform 17"/>
          <p:cNvSpPr/>
          <p:nvPr/>
        </p:nvSpPr>
        <p:spPr>
          <a:xfrm>
            <a:off x="801262" y="472575"/>
            <a:ext cx="683572" cy="647595"/>
          </a:xfrm>
          <a:custGeom>
            <a:avLst/>
            <a:gdLst/>
            <a:ahLst/>
            <a:cxnLst/>
            <a:rect l="l" t="t" r="r" b="b"/>
            <a:pathLst>
              <a:path w="683572" h="647595">
                <a:moveTo>
                  <a:pt x="0" y="0"/>
                </a:moveTo>
                <a:lnTo>
                  <a:pt x="683572" y="0"/>
                </a:lnTo>
                <a:lnTo>
                  <a:pt x="683572" y="647595"/>
                </a:lnTo>
                <a:lnTo>
                  <a:pt x="0" y="6475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9279988" y="4385860"/>
            <a:ext cx="8402988" cy="2321362"/>
            <a:chOff x="0" y="0"/>
            <a:chExt cx="2213133" cy="6113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13133" cy="611388"/>
            </a:xfrm>
            <a:custGeom>
              <a:avLst/>
              <a:gdLst/>
              <a:ahLst/>
              <a:cxnLst/>
              <a:rect l="l" t="t" r="r" b="b"/>
              <a:pathLst>
                <a:path w="2213133" h="611388">
                  <a:moveTo>
                    <a:pt x="46066" y="0"/>
                  </a:moveTo>
                  <a:lnTo>
                    <a:pt x="2167066" y="0"/>
                  </a:lnTo>
                  <a:cubicBezTo>
                    <a:pt x="2179284" y="0"/>
                    <a:pt x="2191001" y="4853"/>
                    <a:pt x="2199640" y="13493"/>
                  </a:cubicBezTo>
                  <a:cubicBezTo>
                    <a:pt x="2208279" y="22132"/>
                    <a:pt x="2213133" y="33849"/>
                    <a:pt x="2213133" y="46066"/>
                  </a:cubicBezTo>
                  <a:lnTo>
                    <a:pt x="2213133" y="565321"/>
                  </a:lnTo>
                  <a:cubicBezTo>
                    <a:pt x="2213133" y="590763"/>
                    <a:pt x="2192508" y="611388"/>
                    <a:pt x="2167066" y="611388"/>
                  </a:cubicBezTo>
                  <a:lnTo>
                    <a:pt x="46066" y="611388"/>
                  </a:lnTo>
                  <a:cubicBezTo>
                    <a:pt x="20625" y="611388"/>
                    <a:pt x="0" y="590763"/>
                    <a:pt x="0" y="565321"/>
                  </a:cubicBezTo>
                  <a:lnTo>
                    <a:pt x="0" y="46066"/>
                  </a:lnTo>
                  <a:cubicBezTo>
                    <a:pt x="0" y="20625"/>
                    <a:pt x="20625" y="0"/>
                    <a:pt x="46066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FF751F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213133" cy="649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788060" y="4471585"/>
            <a:ext cx="3279264" cy="40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D2D2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SDG Alignment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51859" y="4944001"/>
            <a:ext cx="7717046" cy="1571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SDG 1 (N</a:t>
            </a:r>
            <a:r>
              <a:rPr lang="en-US" sz="2599" u="none" strike="noStrike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o Poverty), an emergency buffer built by rule, not willpower. SDG 8 (Decent Work), financial stress follows people to work; sponsored seats treat it as a workplace issue.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05025" y="6844080"/>
            <a:ext cx="8402988" cy="2321362"/>
            <a:chOff x="0" y="0"/>
            <a:chExt cx="2213133" cy="6113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13133" cy="611388"/>
            </a:xfrm>
            <a:custGeom>
              <a:avLst/>
              <a:gdLst/>
              <a:ahLst/>
              <a:cxnLst/>
              <a:rect l="l" t="t" r="r" b="b"/>
              <a:pathLst>
                <a:path w="2213133" h="611388">
                  <a:moveTo>
                    <a:pt x="46066" y="0"/>
                  </a:moveTo>
                  <a:lnTo>
                    <a:pt x="2167066" y="0"/>
                  </a:lnTo>
                  <a:cubicBezTo>
                    <a:pt x="2179284" y="0"/>
                    <a:pt x="2191001" y="4853"/>
                    <a:pt x="2199640" y="13493"/>
                  </a:cubicBezTo>
                  <a:cubicBezTo>
                    <a:pt x="2208279" y="22132"/>
                    <a:pt x="2213133" y="33849"/>
                    <a:pt x="2213133" y="46066"/>
                  </a:cubicBezTo>
                  <a:lnTo>
                    <a:pt x="2213133" y="565321"/>
                  </a:lnTo>
                  <a:cubicBezTo>
                    <a:pt x="2213133" y="590763"/>
                    <a:pt x="2192508" y="611388"/>
                    <a:pt x="2167066" y="611388"/>
                  </a:cubicBezTo>
                  <a:lnTo>
                    <a:pt x="46066" y="611388"/>
                  </a:lnTo>
                  <a:cubicBezTo>
                    <a:pt x="20625" y="611388"/>
                    <a:pt x="0" y="590763"/>
                    <a:pt x="0" y="565321"/>
                  </a:cubicBezTo>
                  <a:lnTo>
                    <a:pt x="0" y="46066"/>
                  </a:lnTo>
                  <a:cubicBezTo>
                    <a:pt x="0" y="20625"/>
                    <a:pt x="20625" y="0"/>
                    <a:pt x="46066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FF751F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213133" cy="649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13097" y="7023200"/>
            <a:ext cx="3492328" cy="40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D2D2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Privacy as a design rule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76896" y="7495616"/>
            <a:ext cx="7717046" cy="1571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N</a:t>
            </a:r>
            <a:r>
              <a:rPr lang="en-US" sz="2599" u="none" strike="noStrike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o bank credentials, ever. Receipt scanning runs on-device. Live today: a bilingual PDPA notice, per-purpose consent, and one-click export. Alignment with PDPA 2010, not certified compliance, no audit yet.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279988" y="6936938"/>
            <a:ext cx="8402988" cy="2321362"/>
            <a:chOff x="0" y="0"/>
            <a:chExt cx="2213133" cy="61138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13133" cy="611388"/>
            </a:xfrm>
            <a:custGeom>
              <a:avLst/>
              <a:gdLst/>
              <a:ahLst/>
              <a:cxnLst/>
              <a:rect l="l" t="t" r="r" b="b"/>
              <a:pathLst>
                <a:path w="2213133" h="611388">
                  <a:moveTo>
                    <a:pt x="46066" y="0"/>
                  </a:moveTo>
                  <a:lnTo>
                    <a:pt x="2167066" y="0"/>
                  </a:lnTo>
                  <a:cubicBezTo>
                    <a:pt x="2179284" y="0"/>
                    <a:pt x="2191001" y="4853"/>
                    <a:pt x="2199640" y="13493"/>
                  </a:cubicBezTo>
                  <a:cubicBezTo>
                    <a:pt x="2208279" y="22132"/>
                    <a:pt x="2213133" y="33849"/>
                    <a:pt x="2213133" y="46066"/>
                  </a:cubicBezTo>
                  <a:lnTo>
                    <a:pt x="2213133" y="565321"/>
                  </a:lnTo>
                  <a:cubicBezTo>
                    <a:pt x="2213133" y="590763"/>
                    <a:pt x="2192508" y="611388"/>
                    <a:pt x="2167066" y="611388"/>
                  </a:cubicBezTo>
                  <a:lnTo>
                    <a:pt x="46066" y="611388"/>
                  </a:lnTo>
                  <a:cubicBezTo>
                    <a:pt x="20625" y="611388"/>
                    <a:pt x="0" y="590763"/>
                    <a:pt x="0" y="565321"/>
                  </a:cubicBezTo>
                  <a:lnTo>
                    <a:pt x="0" y="46066"/>
                  </a:lnTo>
                  <a:cubicBezTo>
                    <a:pt x="0" y="20625"/>
                    <a:pt x="20625" y="0"/>
                    <a:pt x="46066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FF751F"/>
              </a:soli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213133" cy="649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788060" y="7023200"/>
            <a:ext cx="2338231" cy="40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2D2D2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Who it reaches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751859" y="7495616"/>
            <a:ext cx="7717046" cy="1571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Fr</a:t>
            </a:r>
            <a:r>
              <a:rPr lang="en-US" sz="2599" u="none" strike="noStrike">
                <a:solidFill>
                  <a:srgbClr val="555555"/>
                </a:solidFill>
                <a:latin typeface="Neue Montreal"/>
                <a:ea typeface="Neue Montreal"/>
                <a:cs typeface="Neue Montreal"/>
                <a:sym typeface="Neue Montreal"/>
              </a:rPr>
              <a:t>ee forever means the households under most cost-of-living pressure are not the ones priced out. Six languages, and a phone-first PWA that installs on hardware families already own.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698626" y="472575"/>
            <a:ext cx="641254" cy="484209"/>
            <a:chOff x="0" y="0"/>
            <a:chExt cx="168890" cy="1275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890" cy="127528"/>
            </a:xfrm>
            <a:custGeom>
              <a:avLst/>
              <a:gdLst/>
              <a:ahLst/>
              <a:cxnLst/>
              <a:rect l="l" t="t" r="r" b="b"/>
              <a:pathLst>
                <a:path w="168890" h="127528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16867220" y="593606"/>
            <a:ext cx="304067" cy="242148"/>
          </a:xfrm>
          <a:custGeom>
            <a:avLst/>
            <a:gdLst/>
            <a:ahLst/>
            <a:cxnLst/>
            <a:rect l="l" t="t" r="r" b="b"/>
            <a:pathLst>
              <a:path w="304067" h="242148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1170312"/>
            <a:ext cx="18290600" cy="2977424"/>
          </a:xfrm>
          <a:custGeom>
            <a:avLst/>
            <a:gdLst/>
            <a:ahLst/>
            <a:cxnLst/>
            <a:rect l="l" t="t" r="r" b="b"/>
            <a:pathLst>
              <a:path w="18290600" h="2977424">
                <a:moveTo>
                  <a:pt x="0" y="0"/>
                </a:moveTo>
                <a:lnTo>
                  <a:pt x="18290600" y="0"/>
                </a:lnTo>
                <a:lnTo>
                  <a:pt x="18290600" y="2977423"/>
                </a:lnTo>
                <a:lnTo>
                  <a:pt x="0" y="29774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63" t="-99291" r="-1948" b="-285454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55083" y="4414435"/>
            <a:ext cx="5314125" cy="4911676"/>
            <a:chOff x="0" y="0"/>
            <a:chExt cx="1399605" cy="12936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9605" cy="1293610"/>
            </a:xfrm>
            <a:custGeom>
              <a:avLst/>
              <a:gdLst/>
              <a:ahLst/>
              <a:cxnLst/>
              <a:rect l="l" t="t" r="r" b="b"/>
              <a:pathLst>
                <a:path w="1399605" h="1293610">
                  <a:moveTo>
                    <a:pt x="72843" y="0"/>
                  </a:moveTo>
                  <a:lnTo>
                    <a:pt x="1326762" y="0"/>
                  </a:lnTo>
                  <a:cubicBezTo>
                    <a:pt x="1366992" y="0"/>
                    <a:pt x="1399605" y="32613"/>
                    <a:pt x="1399605" y="72843"/>
                  </a:cubicBezTo>
                  <a:lnTo>
                    <a:pt x="1399605" y="1220767"/>
                  </a:lnTo>
                  <a:cubicBezTo>
                    <a:pt x="1399605" y="1260997"/>
                    <a:pt x="1366992" y="1293610"/>
                    <a:pt x="1326762" y="1293610"/>
                  </a:cubicBezTo>
                  <a:lnTo>
                    <a:pt x="72843" y="1293610"/>
                  </a:lnTo>
                  <a:cubicBezTo>
                    <a:pt x="32613" y="1293610"/>
                    <a:pt x="0" y="1260997"/>
                    <a:pt x="0" y="1220767"/>
                  </a:cubicBezTo>
                  <a:lnTo>
                    <a:pt x="0" y="72843"/>
                  </a:lnTo>
                  <a:cubicBezTo>
                    <a:pt x="0" y="32613"/>
                    <a:pt x="32613" y="0"/>
                    <a:pt x="72843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99605" cy="1331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86938" y="4414435"/>
            <a:ext cx="5314125" cy="4911676"/>
            <a:chOff x="0" y="0"/>
            <a:chExt cx="1399605" cy="12936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99605" cy="1293610"/>
            </a:xfrm>
            <a:custGeom>
              <a:avLst/>
              <a:gdLst/>
              <a:ahLst/>
              <a:cxnLst/>
              <a:rect l="l" t="t" r="r" b="b"/>
              <a:pathLst>
                <a:path w="1399605" h="1293610">
                  <a:moveTo>
                    <a:pt x="72843" y="0"/>
                  </a:moveTo>
                  <a:lnTo>
                    <a:pt x="1326762" y="0"/>
                  </a:lnTo>
                  <a:cubicBezTo>
                    <a:pt x="1366992" y="0"/>
                    <a:pt x="1399605" y="32613"/>
                    <a:pt x="1399605" y="72843"/>
                  </a:cubicBezTo>
                  <a:lnTo>
                    <a:pt x="1399605" y="1220767"/>
                  </a:lnTo>
                  <a:cubicBezTo>
                    <a:pt x="1399605" y="1260997"/>
                    <a:pt x="1366992" y="1293610"/>
                    <a:pt x="1326762" y="1293610"/>
                  </a:cubicBezTo>
                  <a:lnTo>
                    <a:pt x="72843" y="1293610"/>
                  </a:lnTo>
                  <a:cubicBezTo>
                    <a:pt x="32613" y="1293610"/>
                    <a:pt x="0" y="1260997"/>
                    <a:pt x="0" y="1220767"/>
                  </a:cubicBezTo>
                  <a:lnTo>
                    <a:pt x="0" y="72843"/>
                  </a:lnTo>
                  <a:cubicBezTo>
                    <a:pt x="0" y="32613"/>
                    <a:pt x="32613" y="0"/>
                    <a:pt x="72843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399605" cy="1331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025756" y="4414435"/>
            <a:ext cx="5314125" cy="4911676"/>
            <a:chOff x="0" y="0"/>
            <a:chExt cx="1399605" cy="12936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99605" cy="1293610"/>
            </a:xfrm>
            <a:custGeom>
              <a:avLst/>
              <a:gdLst/>
              <a:ahLst/>
              <a:cxnLst/>
              <a:rect l="l" t="t" r="r" b="b"/>
              <a:pathLst>
                <a:path w="1399605" h="1293610">
                  <a:moveTo>
                    <a:pt x="72843" y="0"/>
                  </a:moveTo>
                  <a:lnTo>
                    <a:pt x="1326762" y="0"/>
                  </a:lnTo>
                  <a:cubicBezTo>
                    <a:pt x="1366992" y="0"/>
                    <a:pt x="1399605" y="32613"/>
                    <a:pt x="1399605" y="72843"/>
                  </a:cubicBezTo>
                  <a:lnTo>
                    <a:pt x="1399605" y="1220767"/>
                  </a:lnTo>
                  <a:cubicBezTo>
                    <a:pt x="1399605" y="1260997"/>
                    <a:pt x="1366992" y="1293610"/>
                    <a:pt x="1326762" y="1293610"/>
                  </a:cubicBezTo>
                  <a:lnTo>
                    <a:pt x="72843" y="1293610"/>
                  </a:lnTo>
                  <a:cubicBezTo>
                    <a:pt x="32613" y="1293610"/>
                    <a:pt x="0" y="1260997"/>
                    <a:pt x="0" y="1220767"/>
                  </a:cubicBezTo>
                  <a:lnTo>
                    <a:pt x="0" y="72843"/>
                  </a:lnTo>
                  <a:cubicBezTo>
                    <a:pt x="0" y="32613"/>
                    <a:pt x="32613" y="0"/>
                    <a:pt x="72843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FFDE59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399605" cy="1331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477986" y="4583682"/>
            <a:ext cx="660730" cy="483709"/>
          </a:xfrm>
          <a:custGeom>
            <a:avLst/>
            <a:gdLst/>
            <a:ahLst/>
            <a:cxnLst/>
            <a:rect l="l" t="t" r="r" b="b"/>
            <a:pathLst>
              <a:path w="660730" h="483709">
                <a:moveTo>
                  <a:pt x="0" y="0"/>
                </a:moveTo>
                <a:lnTo>
                  <a:pt x="660730" y="0"/>
                </a:lnTo>
                <a:lnTo>
                  <a:pt x="660730" y="483708"/>
                </a:lnTo>
                <a:lnTo>
                  <a:pt x="0" y="48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70" b="-1270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001803" y="4569150"/>
            <a:ext cx="671171" cy="512772"/>
          </a:xfrm>
          <a:custGeom>
            <a:avLst/>
            <a:gdLst/>
            <a:ahLst/>
            <a:cxnLst/>
            <a:rect l="l" t="t" r="r" b="b"/>
            <a:pathLst>
              <a:path w="671171" h="512772">
                <a:moveTo>
                  <a:pt x="0" y="0"/>
                </a:moveTo>
                <a:lnTo>
                  <a:pt x="671171" y="0"/>
                </a:lnTo>
                <a:lnTo>
                  <a:pt x="671171" y="512772"/>
                </a:lnTo>
                <a:lnTo>
                  <a:pt x="0" y="5127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70" b="-1270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560206" y="4520816"/>
            <a:ext cx="638705" cy="546575"/>
          </a:xfrm>
          <a:custGeom>
            <a:avLst/>
            <a:gdLst/>
            <a:ahLst/>
            <a:cxnLst/>
            <a:rect l="l" t="t" r="r" b="b"/>
            <a:pathLst>
              <a:path w="638705" h="546575">
                <a:moveTo>
                  <a:pt x="0" y="0"/>
                </a:moveTo>
                <a:lnTo>
                  <a:pt x="638705" y="0"/>
                </a:lnTo>
                <a:lnTo>
                  <a:pt x="638705" y="546574"/>
                </a:lnTo>
                <a:lnTo>
                  <a:pt x="0" y="5465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270" b="-1270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547027" y="571798"/>
            <a:ext cx="7087065" cy="33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b="1" spc="19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HoneyMoney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096376" y="9340399"/>
            <a:ext cx="873698" cy="2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8"/>
              </a:lnSpc>
              <a:spcBef>
                <a:spcPct val="0"/>
              </a:spcBef>
            </a:pPr>
            <a:r>
              <a:rPr lang="en-US" sz="1598" b="1" spc="15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882414" y="9340399"/>
            <a:ext cx="450503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10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5083" y="1534946"/>
            <a:ext cx="16377834" cy="123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43"/>
              </a:lnSpc>
            </a:pPr>
            <a:r>
              <a:rPr lang="en-US" sz="8993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Our Team - JUST50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77986" y="8873263"/>
            <a:ext cx="4020208" cy="273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</a:pPr>
            <a:r>
              <a:rPr lang="en-US" sz="1599" spc="15">
                <a:solidFill>
                  <a:srgbClr val="2D2D2D"/>
                </a:solidFill>
                <a:latin typeface="Neue Montreal"/>
                <a:ea typeface="Neue Montreal"/>
                <a:cs typeface="Neue Montreal"/>
                <a:sym typeface="Neue Montreal"/>
              </a:rPr>
              <a:t>Business Lead  |  Malaysian Citizen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01803" y="8873263"/>
            <a:ext cx="4020208" cy="273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</a:pPr>
            <a:r>
              <a:rPr lang="en-US" sz="1599" spc="15">
                <a:solidFill>
                  <a:srgbClr val="2D2D2D"/>
                </a:solidFill>
                <a:latin typeface="Neue Montreal"/>
                <a:ea typeface="Neue Montreal"/>
                <a:cs typeface="Neue Montreal"/>
                <a:sym typeface="Neue Montreal"/>
              </a:rPr>
              <a:t>Tech Lead   |   Full-Stack &amp; AI Engineer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29609" y="8873263"/>
            <a:ext cx="4020208" cy="273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</a:pPr>
            <a:r>
              <a:rPr lang="en-US" sz="1599" spc="15">
                <a:solidFill>
                  <a:srgbClr val="2D2D2D"/>
                </a:solidFill>
                <a:latin typeface="Neue Montreal"/>
                <a:ea typeface="Neue Montreal"/>
                <a:cs typeface="Neue Montreal"/>
                <a:sym typeface="Neue Montreal"/>
              </a:rPr>
              <a:t>Contact: hello@honeymoney.app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77986" y="5343344"/>
            <a:ext cx="4418401" cy="2743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</a:pPr>
            <a:r>
              <a:rPr lang="en-US" sz="2599" i="1" spc="25">
                <a:solidFill>
                  <a:srgbClr val="FF751F"/>
                </a:solidFill>
                <a:latin typeface="Neue Montreal Italics"/>
                <a:ea typeface="Neue Montreal Italics"/>
                <a:cs typeface="Neue Montreal Italics"/>
                <a:sym typeface="Neue Montreal Italics"/>
              </a:rPr>
              <a:t>Drives business strategy, partnerships, and growth. </a:t>
            </a:r>
          </a:p>
          <a:p>
            <a:pPr marL="0" lvl="0" indent="0" algn="l">
              <a:lnSpc>
                <a:spcPts val="3119"/>
              </a:lnSpc>
            </a:pPr>
            <a:r>
              <a:rPr lang="en-US" sz="2599" i="1" spc="25">
                <a:solidFill>
                  <a:srgbClr val="FF751F"/>
                </a:solidFill>
                <a:latin typeface="Neue Montreal Italics"/>
                <a:ea typeface="Neue Montreal Italics"/>
                <a:cs typeface="Neue Montreal Italics"/>
                <a:sym typeface="Neue Montreal Italics"/>
              </a:rPr>
              <a:t>Focused on making HoneyMoney.app the go-to expenditure tracking app for Malaysian consumers, couples and families.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09841" y="5343344"/>
            <a:ext cx="4422997" cy="2352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</a:pPr>
            <a:r>
              <a:rPr lang="en-US" sz="2599" i="1" spc="25">
                <a:solidFill>
                  <a:srgbClr val="FF751F"/>
                </a:solidFill>
                <a:latin typeface="Neue Montreal Italics"/>
                <a:ea typeface="Neue Montreal Italics"/>
                <a:cs typeface="Neue Montreal Italics"/>
                <a:sym typeface="Neue Montreal Italics"/>
              </a:rPr>
              <a:t>Architects the platform, from the local‑first knowledge graph to AI integrations and supporting features, while keeping the system lean and resilient. </a:t>
            </a:r>
          </a:p>
          <a:p>
            <a:pPr marL="0" lvl="0" indent="0" algn="l">
              <a:lnSpc>
                <a:spcPts val="3119"/>
              </a:lnSpc>
            </a:pPr>
            <a:r>
              <a:rPr lang="en-US" sz="2599" i="1" spc="25">
                <a:solidFill>
                  <a:srgbClr val="FF751F"/>
                </a:solidFill>
                <a:latin typeface="Neue Montreal Italics"/>
                <a:ea typeface="Neue Montreal Italics"/>
                <a:cs typeface="Neue Montreal Italics"/>
                <a:sym typeface="Neue Montreal Italics"/>
              </a:rPr>
              <a:t>AI-award-winning Tech Lead.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91820" y="5196222"/>
            <a:ext cx="4627433" cy="3133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 i="1" spc="25">
                <a:solidFill>
                  <a:srgbClr val="FF751F"/>
                </a:solidFill>
                <a:latin typeface="Neue Montreal Italics"/>
                <a:ea typeface="Neue Montreal Italics"/>
                <a:cs typeface="Neue Montreal Italics"/>
                <a:sym typeface="Neue Montreal Italics"/>
              </a:rPr>
              <a:t>Pilot partners: employers and community groups offering HoneyMoney as a wellbeing benefit</a:t>
            </a: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 i="1" spc="25">
                <a:solidFill>
                  <a:srgbClr val="FF751F"/>
                </a:solidFill>
                <a:latin typeface="Neue Montreal Italics"/>
                <a:ea typeface="Neue Montreal Italics"/>
                <a:cs typeface="Neue Montreal Italics"/>
                <a:sym typeface="Neue Montreal Italics"/>
              </a:rPr>
              <a:t>Licensed fintech partners for the Year 3 referral layer</a:t>
            </a:r>
          </a:p>
          <a:p>
            <a:pPr marL="561337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 i="1" spc="25">
                <a:solidFill>
                  <a:srgbClr val="FF751F"/>
                </a:solidFill>
                <a:latin typeface="Neue Montreal Italics"/>
                <a:ea typeface="Neue Montreal Italics"/>
                <a:cs typeface="Neue Montreal Italics"/>
                <a:sym typeface="Neue Montreal Italics"/>
              </a:rPr>
              <a:t>Impact-driven investors</a:t>
            </a:r>
          </a:p>
          <a:p>
            <a:pPr algn="l">
              <a:lnSpc>
                <a:spcPts val="3119"/>
              </a:lnSpc>
            </a:pPr>
            <a:endParaRPr lang="en-US" sz="2599" i="1" spc="25">
              <a:solidFill>
                <a:srgbClr val="FF751F"/>
              </a:solidFill>
              <a:latin typeface="Neue Montreal Italics"/>
              <a:ea typeface="Neue Montreal Italics"/>
              <a:cs typeface="Neue Montreal Italics"/>
              <a:sym typeface="Neue Montreal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477986" y="8646502"/>
            <a:ext cx="4020208" cy="264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99"/>
              </a:lnSpc>
            </a:pPr>
            <a:r>
              <a:rPr lang="en-US" sz="1571" b="1" spc="15">
                <a:solidFill>
                  <a:srgbClr val="2D2D2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Chua Kia Wah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09841" y="8646502"/>
            <a:ext cx="4020208" cy="264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99"/>
              </a:lnSpc>
            </a:pPr>
            <a:r>
              <a:rPr lang="en-US" sz="1571" b="1" spc="15">
                <a:solidFill>
                  <a:srgbClr val="2D2D2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Pong Woon Wei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48659" y="8646502"/>
            <a:ext cx="4020208" cy="264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99"/>
              </a:lnSpc>
            </a:pPr>
            <a:r>
              <a:rPr lang="en-US" sz="1571" b="1" spc="15">
                <a:solidFill>
                  <a:srgbClr val="2D2D2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What We're Looking For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2844" y="9340399"/>
            <a:ext cx="2945600" cy="27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03"/>
              </a:lnSpc>
              <a:spcBef>
                <a:spcPct val="0"/>
              </a:spcBef>
            </a:pPr>
            <a:r>
              <a:rPr lang="en-US" sz="1573" spc="15">
                <a:solidFill>
                  <a:srgbClr val="F5F5F5"/>
                </a:solidFill>
                <a:latin typeface="Neue Montreal"/>
                <a:ea typeface="Neue Montreal"/>
                <a:cs typeface="Neue Montreal"/>
                <a:sym typeface="Neue Montreal"/>
              </a:rPr>
              <a:t>honeymoney.app</a:t>
            </a:r>
          </a:p>
        </p:txBody>
      </p:sp>
      <p:sp>
        <p:nvSpPr>
          <p:cNvPr id="33" name="Freeform 33"/>
          <p:cNvSpPr/>
          <p:nvPr/>
        </p:nvSpPr>
        <p:spPr>
          <a:xfrm>
            <a:off x="801262" y="482100"/>
            <a:ext cx="623853" cy="607767"/>
          </a:xfrm>
          <a:custGeom>
            <a:avLst/>
            <a:gdLst/>
            <a:ahLst/>
            <a:cxnLst/>
            <a:rect l="l" t="t" r="r" b="b"/>
            <a:pathLst>
              <a:path w="623853" h="607767">
                <a:moveTo>
                  <a:pt x="0" y="0"/>
                </a:moveTo>
                <a:lnTo>
                  <a:pt x="623853" y="0"/>
                </a:lnTo>
                <a:lnTo>
                  <a:pt x="623853" y="607767"/>
                </a:lnTo>
                <a:lnTo>
                  <a:pt x="0" y="6077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8062" b="-4342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94055"/>
            <a:ext cx="18288000" cy="2953680"/>
          </a:xfrm>
          <a:custGeom>
            <a:avLst/>
            <a:gdLst/>
            <a:ahLst/>
            <a:cxnLst/>
            <a:rect l="l" t="t" r="r" b="b"/>
            <a:pathLst>
              <a:path w="18288000" h="2953680">
                <a:moveTo>
                  <a:pt x="0" y="0"/>
                </a:moveTo>
                <a:lnTo>
                  <a:pt x="18288000" y="0"/>
                </a:lnTo>
                <a:lnTo>
                  <a:pt x="18288000" y="2953680"/>
                </a:lnTo>
                <a:lnTo>
                  <a:pt x="0" y="2953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3357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33401" y="8115298"/>
            <a:ext cx="2266781" cy="822443"/>
            <a:chOff x="-13161" y="-18274"/>
            <a:chExt cx="583115" cy="2115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69954" cy="173468"/>
            </a:xfrm>
            <a:custGeom>
              <a:avLst/>
              <a:gdLst/>
              <a:ahLst/>
              <a:cxnLst/>
              <a:rect l="l" t="t" r="r" b="b"/>
              <a:pathLst>
                <a:path w="569954" h="173468">
                  <a:moveTo>
                    <a:pt x="86734" y="0"/>
                  </a:moveTo>
                  <a:lnTo>
                    <a:pt x="483220" y="0"/>
                  </a:lnTo>
                  <a:cubicBezTo>
                    <a:pt x="506223" y="0"/>
                    <a:pt x="528284" y="9138"/>
                    <a:pt x="544550" y="25404"/>
                  </a:cubicBezTo>
                  <a:cubicBezTo>
                    <a:pt x="560816" y="41670"/>
                    <a:pt x="569954" y="63731"/>
                    <a:pt x="569954" y="86734"/>
                  </a:cubicBezTo>
                  <a:lnTo>
                    <a:pt x="569954" y="86734"/>
                  </a:lnTo>
                  <a:cubicBezTo>
                    <a:pt x="569954" y="134636"/>
                    <a:pt x="531122" y="173468"/>
                    <a:pt x="483220" y="173468"/>
                  </a:cubicBezTo>
                  <a:lnTo>
                    <a:pt x="86734" y="173468"/>
                  </a:lnTo>
                  <a:cubicBezTo>
                    <a:pt x="38832" y="173468"/>
                    <a:pt x="0" y="134636"/>
                    <a:pt x="0" y="86734"/>
                  </a:cubicBezTo>
                  <a:lnTo>
                    <a:pt x="0" y="86734"/>
                  </a:lnTo>
                  <a:cubicBezTo>
                    <a:pt x="0" y="38832"/>
                    <a:pt x="38832" y="0"/>
                    <a:pt x="86734" y="0"/>
                  </a:cubicBezTo>
                  <a:close/>
                </a:path>
              </a:pathLst>
            </a:custGeom>
            <a:solidFill>
              <a:srgbClr val="FF751F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-13161" y="-18274"/>
              <a:ext cx="569954" cy="211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8"/>
                </a:lnSpc>
              </a:pPr>
              <a:r>
                <a:rPr lang="en-US" sz="2198" b="1" spc="21" dirty="0">
                  <a:solidFill>
                    <a:schemeClr val="bg1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  <a:hlinkClick r:id="rId3" tooltip="http://honeymoney.ap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TRY IT LIVE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16698626" y="472575"/>
            <a:ext cx="641254" cy="484209"/>
            <a:chOff x="0" y="0"/>
            <a:chExt cx="168890" cy="1275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8890" cy="127528"/>
            </a:xfrm>
            <a:custGeom>
              <a:avLst/>
              <a:gdLst/>
              <a:ahLst/>
              <a:cxnLst/>
              <a:rect l="l" t="t" r="r" b="b"/>
              <a:pathLst>
                <a:path w="168890" h="127528">
                  <a:moveTo>
                    <a:pt x="63764" y="0"/>
                  </a:moveTo>
                  <a:lnTo>
                    <a:pt x="105126" y="0"/>
                  </a:lnTo>
                  <a:cubicBezTo>
                    <a:pt x="122037" y="0"/>
                    <a:pt x="138256" y="6718"/>
                    <a:pt x="150214" y="18676"/>
                  </a:cubicBezTo>
                  <a:cubicBezTo>
                    <a:pt x="162172" y="30634"/>
                    <a:pt x="168890" y="46853"/>
                    <a:pt x="168890" y="63764"/>
                  </a:cubicBezTo>
                  <a:lnTo>
                    <a:pt x="168890" y="63764"/>
                  </a:lnTo>
                  <a:cubicBezTo>
                    <a:pt x="168890" y="80675"/>
                    <a:pt x="162172" y="96894"/>
                    <a:pt x="150214" y="108852"/>
                  </a:cubicBezTo>
                  <a:cubicBezTo>
                    <a:pt x="138256" y="120810"/>
                    <a:pt x="122037" y="127528"/>
                    <a:pt x="105126" y="127528"/>
                  </a:cubicBezTo>
                  <a:lnTo>
                    <a:pt x="63764" y="127528"/>
                  </a:lnTo>
                  <a:cubicBezTo>
                    <a:pt x="46853" y="127528"/>
                    <a:pt x="30634" y="120810"/>
                    <a:pt x="18676" y="108852"/>
                  </a:cubicBezTo>
                  <a:cubicBezTo>
                    <a:pt x="6718" y="96894"/>
                    <a:pt x="0" y="80675"/>
                    <a:pt x="0" y="63764"/>
                  </a:cubicBezTo>
                  <a:lnTo>
                    <a:pt x="0" y="63764"/>
                  </a:lnTo>
                  <a:cubicBezTo>
                    <a:pt x="0" y="46853"/>
                    <a:pt x="6718" y="30634"/>
                    <a:pt x="18676" y="18676"/>
                  </a:cubicBezTo>
                  <a:cubicBezTo>
                    <a:pt x="30634" y="6718"/>
                    <a:pt x="46853" y="0"/>
                    <a:pt x="63764" y="0"/>
                  </a:cubicBezTo>
                  <a:close/>
                </a:path>
              </a:pathLst>
            </a:custGeom>
            <a:solidFill>
              <a:srgbClr val="FF751F"/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8890" cy="1656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0800000" flipH="1">
            <a:off x="16867220" y="593606"/>
            <a:ext cx="304067" cy="242148"/>
          </a:xfrm>
          <a:custGeom>
            <a:avLst/>
            <a:gdLst/>
            <a:ahLst/>
            <a:cxnLst/>
            <a:rect l="l" t="t" r="r" b="b"/>
            <a:pathLst>
              <a:path w="304067" h="242148">
                <a:moveTo>
                  <a:pt x="304066" y="0"/>
                </a:moveTo>
                <a:lnTo>
                  <a:pt x="0" y="0"/>
                </a:lnTo>
                <a:lnTo>
                  <a:pt x="0" y="242147"/>
                </a:lnTo>
                <a:lnTo>
                  <a:pt x="304066" y="242147"/>
                </a:lnTo>
                <a:lnTo>
                  <a:pt x="3040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47027" y="571798"/>
            <a:ext cx="7087065" cy="33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b="1" spc="19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HoneyMoney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096376" y="9340399"/>
            <a:ext cx="873698" cy="2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8"/>
              </a:lnSpc>
              <a:spcBef>
                <a:spcPct val="0"/>
              </a:spcBef>
            </a:pPr>
            <a:r>
              <a:rPr lang="en-US" sz="1598" b="1" spc="15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882414" y="9340399"/>
            <a:ext cx="450503" cy="27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8"/>
              </a:lnSpc>
              <a:spcBef>
                <a:spcPct val="0"/>
              </a:spcBef>
            </a:pPr>
            <a:r>
              <a:rPr lang="en-US" sz="1598" spc="15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11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4563" y="9156552"/>
            <a:ext cx="1602066" cy="339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spc="19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Contact: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47027" y="9156495"/>
            <a:ext cx="3015424" cy="33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 b="1" spc="19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hello@honeymoney.app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4563" y="4252510"/>
            <a:ext cx="17479536" cy="3319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Problems</a:t>
            </a:r>
            <a:r>
              <a:rPr lang="en-US" sz="2999" b="1" u="none" strike="noStrik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:</a:t>
            </a:r>
            <a:r>
              <a:rPr lang="en-US" sz="2999" b="1" u="none" strike="noStrik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 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u="none" strike="noStrik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Fragmented, messy household money management for consumers, couples, and families. 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u="none" strike="noStrik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Overspending gets discovered after the fact.</a:t>
            </a:r>
          </a:p>
          <a:p>
            <a:pPr marL="0" lvl="0" indent="0" algn="l">
              <a:lnSpc>
                <a:spcPts val="4199"/>
              </a:lnSpc>
            </a:pPr>
            <a:r>
              <a:rPr lang="en-US" sz="2999" b="1" u="none" strike="noStrik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Solutions: 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u="none" strike="noStrik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One app that captures every spend in seconds, scores your monthly money health, </a:t>
            </a:r>
          </a:p>
          <a:p>
            <a:pPr algn="l">
              <a:lnSpc>
                <a:spcPts val="3640"/>
              </a:lnSpc>
            </a:pPr>
            <a:r>
              <a:rPr lang="en-US" sz="2600" b="1" u="none" strike="noStrik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         and warns you before you run short, without ever connecting to your bank. 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u="none" strike="noStrik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Live now at </a:t>
            </a:r>
            <a:r>
              <a:rPr lang="en-US" sz="2600" b="1" strike="noStrik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  <a:hlinkClick r:id="rId5" tooltip="https://honeymoney.app"/>
              </a:rPr>
              <a:t>honeymoney.app</a:t>
            </a:r>
            <a:r>
              <a:rPr lang="en-US" sz="2600" b="1" u="none" strike="noStrik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!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8969" y="1407767"/>
            <a:ext cx="14663781" cy="12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50"/>
              </a:lnSpc>
            </a:pPr>
            <a:r>
              <a:rPr lang="en-US" sz="9000" b="1" dirty="0" err="1">
                <a:solidFill>
                  <a:schemeClr val="bg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HoneyMoney.app</a:t>
            </a:r>
            <a:endParaRPr lang="en-US" sz="9000" b="1" dirty="0">
              <a:solidFill>
                <a:schemeClr val="bg1"/>
              </a:solidFill>
              <a:latin typeface="Neue Montreal Bold"/>
              <a:ea typeface="Neue Montreal Bold"/>
              <a:cs typeface="Neue Montreal Bold"/>
              <a:sym typeface="Neue Montreal Bold"/>
              <a:hlinkClick r:id="rId5" tooltip="https://honeymoney.ap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801262" y="472575"/>
            <a:ext cx="683572" cy="647595"/>
          </a:xfrm>
          <a:custGeom>
            <a:avLst/>
            <a:gdLst/>
            <a:ahLst/>
            <a:cxnLst/>
            <a:rect l="l" t="t" r="r" b="b"/>
            <a:pathLst>
              <a:path w="683572" h="647595">
                <a:moveTo>
                  <a:pt x="0" y="0"/>
                </a:moveTo>
                <a:lnTo>
                  <a:pt x="683572" y="0"/>
                </a:lnTo>
                <a:lnTo>
                  <a:pt x="683572" y="647595"/>
                </a:lnTo>
                <a:lnTo>
                  <a:pt x="0" y="6475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98969" y="2750816"/>
            <a:ext cx="9745632" cy="10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3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Happy Wife . Happy Life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b="1" spc="3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The AI money layer for Malaysian Families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78344" y="8052986"/>
            <a:ext cx="9461536" cy="655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Thank you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26238" y="8651779"/>
            <a:ext cx="6213642" cy="489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19"/>
              </a:lnSpc>
              <a:spcBef>
                <a:spcPct val="0"/>
              </a:spcBef>
            </a:pPr>
            <a:r>
              <a:rPr lang="en-US" sz="2799" b="1" spc="27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MAIC Nexus 2026 | Track T3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1322</Words>
  <Application>Microsoft Office PowerPoint</Application>
  <PresentationFormat>Custom</PresentationFormat>
  <Paragraphs>185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Neue Montreal Medium Italics</vt:lpstr>
      <vt:lpstr>Neue Montreal Medium</vt:lpstr>
      <vt:lpstr>Neue Montreal Italics</vt:lpstr>
      <vt:lpstr>Arial</vt:lpstr>
      <vt:lpstr>Neue Montreal Bold</vt:lpstr>
      <vt:lpstr>Calibri</vt:lpstr>
      <vt:lpstr>Neue Montreal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20260824 HoneyMoney</dc:title>
  <cp:lastModifiedBy>Woon Wei Pong</cp:lastModifiedBy>
  <cp:revision>3</cp:revision>
  <cp:lastPrinted>2026-08-24T16:59:28Z</cp:lastPrinted>
  <dcterms:created xsi:type="dcterms:W3CDTF">2006-08-16T00:00:00Z</dcterms:created>
  <dcterms:modified xsi:type="dcterms:W3CDTF">2026-08-24T17:00:18Z</dcterms:modified>
  <dc:identifier>DAHSU8wKhGw</dc:identifier>
</cp:coreProperties>
</file>